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Today we present LandLens AI for Problem Statement SIH26018. LandLens AI transforms aging, faded historical land records across India into verified digital intelligence, combining edge Computer Vision, Bilingual OCR, Continuous Online Learning, and Geospatial GIS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over 65% of all civil litigation in India is tied to property disputes. Paper records are degraded, regional formats are completely fragmented, and manual entry breeds errors and fraud. LandLens AI solves this root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structured into 9 cohesive pillars covering the entire lifecycle: from raw image preprocessing to multilingual OCR, fraud discrimination, domain NER, continuous learning, human verification, and GIS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1 enhances faded scans via CLAHE and deskewing. Pillar 2 solves a massive real-world pain point: revenue officers write Khasra numbers in Devanagari script. Our engine automatically normalizes these numerals into digital Arabic digits with 96%+ accuracy.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3 acts as our fraud and ingestion guard, automatically rejecting non-land files. Pillar 4 parses 16 core revenue attributes from both rural Jamabandi and urban e-Stamp conveyance deeds.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5 is our revolutionary feature: sub-500ms online model adaptation with Experience Replay. Pillar 6 protects the registry against duplicate title claims using phonetic fuzzy matching.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7 provides a 3-column verification studio keeping officers in the loop. Pillar 8 maps deeds directly to GIS cadastral parcels. Pillar 9 features Gemini 3.1 Pro for real-time circle rate valuation and infrastructure project tracking.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4 authentic documents we tested: official e-Stamp deeds, handwritten Hindi Khasra registers, commercial invoices correctly blocked by our discriminator, and clean bilingual Jamabandi records.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to traditional portals and generic cloud OCR, LandLens AI uniquely provides Devanagari numeral normalization, instant online adaptation, duplicate fraud detection, and 100% offline edge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LandLens AI bridges revenue records with national market value and infrastructure planning. Our Gemini assistant incorporates statutory RFCTLARR formulas and tracks land acquisition on Bharatmala, Bullet Train, and Jewar Airport.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conducted rigorous empirical testing: 38 out of 38 automated tests pass, with sub-1.8s document processing, sub-420ms online adaptation, and 0.0% catastrophic forgetting.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LandLens AI provides an operational, field-tested solution for SIH26018. We invite the judges to proceed to the live interactive demonstration of our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andlens_seal_exact.png"/>
          <p:cNvPicPr>
            <a:picLocks noChangeAspect="1"/>
          </p:cNvPicPr>
          <p:nvPr/>
        </p:nvPicPr>
        <p:blipFill>
          <a:blip r:embed="rId2"/>
          <a:stretch>
            <a:fillRect/>
          </a:stretch>
        </p:blipFill>
        <p:spPr>
          <a:xfrm>
            <a:off x="5409590" y="731520"/>
            <a:ext cx="1371600" cy="1371600"/>
          </a:xfrm>
          <a:prstGeom prst="rect">
            <a:avLst/>
          </a:prstGeom>
        </p:spPr>
      </p:pic>
      <p:sp>
        <p:nvSpPr>
          <p:cNvPr id="4" name="TextBox 3"/>
          <p:cNvSpPr txBox="1"/>
          <p:nvPr/>
        </p:nvSpPr>
        <p:spPr>
          <a:xfrm>
            <a:off x="914400" y="2194560"/>
            <a:ext cx="10362895" cy="914400"/>
          </a:xfrm>
          <a:prstGeom prst="rect">
            <a:avLst/>
          </a:prstGeom>
          <a:noFill/>
        </p:spPr>
        <p:txBody>
          <a:bodyPr wrap="none">
            <a:spAutoFit/>
          </a:bodyPr>
          <a:lstStyle/>
          <a:p>
            <a:pPr algn="ctr">
              <a:defRPr sz="4000" b="1">
                <a:solidFill>
                  <a:srgbClr val="FFFFFF"/>
                </a:solidFill>
              </a:defRPr>
            </a:pPr>
            <a:r>
              <a:t>LANDLENS AI</a:t>
            </a:r>
          </a:p>
        </p:txBody>
      </p:sp>
      <p:sp>
        <p:nvSpPr>
          <p:cNvPr id="5" name="TextBox 4"/>
          <p:cNvSpPr txBox="1"/>
          <p:nvPr/>
        </p:nvSpPr>
        <p:spPr>
          <a:xfrm>
            <a:off x="914400" y="3108960"/>
            <a:ext cx="10362895" cy="822960"/>
          </a:xfrm>
          <a:prstGeom prst="rect">
            <a:avLst/>
          </a:prstGeom>
          <a:noFill/>
        </p:spPr>
        <p:txBody>
          <a:bodyPr wrap="none">
            <a:spAutoFit/>
          </a:bodyPr>
          <a:lstStyle/>
          <a:p>
            <a:pPr algn="ctr">
              <a:defRPr sz="1700" b="1">
                <a:solidFill>
                  <a:srgbClr val="F59E0B"/>
                </a:solidFill>
              </a:defRPr>
            </a:pPr>
            <a:r>
              <a:t>National Geospatial Land Record Digitization, Validation &amp; Governance Intelligence Platform</a:t>
            </a:r>
          </a:p>
          <a:p>
            <a:pPr algn="ctr">
              <a:defRPr sz="1300" i="1">
                <a:solidFill>
                  <a:srgbClr val="CBD5E1"/>
                </a:solidFill>
              </a:defRPr>
            </a:pPr>
            <a:r>
              <a:t>From Legacy Land Records to Verified Digital Intelligence</a:t>
            </a:r>
          </a:p>
        </p:txBody>
      </p:sp>
      <p:sp>
        <p:nvSpPr>
          <p:cNvPr id="6" name="Rounded Rectangle 5"/>
          <p:cNvSpPr/>
          <p:nvPr/>
        </p:nvSpPr>
        <p:spPr>
          <a:xfrm>
            <a:off x="1097280" y="4480560"/>
            <a:ext cx="320040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572000"/>
            <a:ext cx="2926080" cy="914400"/>
          </a:xfrm>
          <a:prstGeom prst="rect">
            <a:avLst/>
          </a:prstGeom>
          <a:noFill/>
        </p:spPr>
        <p:txBody>
          <a:bodyPr wrap="none">
            <a:spAutoFit/>
          </a:bodyPr>
          <a:lstStyle/>
          <a:p>
            <a:pPr>
              <a:defRPr sz="900" b="1">
                <a:solidFill>
                  <a:srgbClr val="F59E0B"/>
                </a:solidFill>
              </a:defRPr>
            </a:pPr>
            <a:r>
              <a:t>PROBLEM STATEMENT</a:t>
            </a:r>
          </a:p>
          <a:p>
            <a:pPr>
              <a:defRPr sz="1100" b="1">
                <a:solidFill>
                  <a:srgbClr val="FFFFFF"/>
                </a:solidFill>
              </a:defRPr>
            </a:pPr>
            <a:r>
              <a:t>SIH26018 (Smart India Hackathon)</a:t>
            </a:r>
          </a:p>
        </p:txBody>
      </p:sp>
      <p:sp>
        <p:nvSpPr>
          <p:cNvPr id="8" name="Rounded Rectangle 7"/>
          <p:cNvSpPr/>
          <p:nvPr/>
        </p:nvSpPr>
        <p:spPr>
          <a:xfrm>
            <a:off x="4480560" y="4480560"/>
            <a:ext cx="320040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4572000"/>
            <a:ext cx="2926080" cy="914400"/>
          </a:xfrm>
          <a:prstGeom prst="rect">
            <a:avLst/>
          </a:prstGeom>
          <a:noFill/>
        </p:spPr>
        <p:txBody>
          <a:bodyPr wrap="none">
            <a:spAutoFit/>
          </a:bodyPr>
          <a:lstStyle/>
          <a:p>
            <a:pPr>
              <a:defRPr sz="900" b="1">
                <a:solidFill>
                  <a:srgbClr val="F59E0B"/>
                </a:solidFill>
              </a:defRPr>
            </a:pPr>
            <a:r>
              <a:t>DOMAIN</a:t>
            </a:r>
          </a:p>
          <a:p>
            <a:pPr>
              <a:defRPr sz="1100" b="1">
                <a:solidFill>
                  <a:srgbClr val="FFFFFF"/>
                </a:solidFill>
              </a:defRPr>
            </a:pPr>
            <a:r>
              <a:t>Land Revenue &amp; Geospatial Intelligence</a:t>
            </a:r>
          </a:p>
        </p:txBody>
      </p:sp>
      <p:sp>
        <p:nvSpPr>
          <p:cNvPr id="10" name="Rounded Rectangle 9"/>
          <p:cNvSpPr/>
          <p:nvPr/>
        </p:nvSpPr>
        <p:spPr>
          <a:xfrm>
            <a:off x="7863840" y="4480560"/>
            <a:ext cx="320040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4572000"/>
            <a:ext cx="2926080" cy="914400"/>
          </a:xfrm>
          <a:prstGeom prst="rect">
            <a:avLst/>
          </a:prstGeom>
          <a:noFill/>
        </p:spPr>
        <p:txBody>
          <a:bodyPr wrap="none">
            <a:spAutoFit/>
          </a:bodyPr>
          <a:lstStyle/>
          <a:p>
            <a:pPr>
              <a:defRPr sz="900" b="1">
                <a:solidFill>
                  <a:srgbClr val="F59E0B"/>
                </a:solidFill>
              </a:defRPr>
            </a:pPr>
            <a:r>
              <a:t>CORE AI STACK</a:t>
            </a:r>
          </a:p>
          <a:p>
            <a:pPr>
              <a:defRPr sz="1100" b="1">
                <a:solidFill>
                  <a:srgbClr val="FFFFFF"/>
                </a:solidFill>
              </a:defRPr>
            </a:pPr>
            <a:r>
              <a:t>Vision + OCR + NLP + Online Learning + Gemini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1. The Problem Statement &amp; National Crisis in Land Administration</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685800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109728" cy="1417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6400800" cy="1234440"/>
          </a:xfrm>
          <a:prstGeom prst="rect">
            <a:avLst/>
          </a:prstGeom>
          <a:noFill/>
        </p:spPr>
        <p:txBody>
          <a:bodyPr wrap="none">
            <a:spAutoFit/>
          </a:bodyPr>
          <a:lstStyle/>
          <a:p>
            <a:pPr>
              <a:defRPr sz="1300" b="1">
                <a:solidFill>
                  <a:srgbClr val="1E3A8A"/>
                </a:solidFill>
              </a:defRPr>
            </a:pPr>
            <a:r>
              <a:t>1. Historical &amp; Degraded Physical Paper</a:t>
            </a:r>
          </a:p>
          <a:p>
            <a:pPr>
              <a:defRPr sz="1050">
                <a:solidFill>
                  <a:srgbClr val="1E293B"/>
                </a:solidFill>
              </a:defRPr>
            </a:pPr>
            <a:r>
              <a:t>Millions of Jamabandi, Khasra, Khatauni, and e-Stamp deeds locked away in aged, yellowed, low-contrast physical registers over 50 years old.</a:t>
            </a:r>
          </a:p>
        </p:txBody>
      </p:sp>
      <p:sp>
        <p:nvSpPr>
          <p:cNvPr id="9" name="Rounded Rectangle 8"/>
          <p:cNvSpPr/>
          <p:nvPr/>
        </p:nvSpPr>
        <p:spPr>
          <a:xfrm>
            <a:off x="731520" y="3063240"/>
            <a:ext cx="685800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063240"/>
            <a:ext cx="109728"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54680"/>
            <a:ext cx="6400800" cy="1234440"/>
          </a:xfrm>
          <a:prstGeom prst="rect">
            <a:avLst/>
          </a:prstGeom>
          <a:noFill/>
        </p:spPr>
        <p:txBody>
          <a:bodyPr wrap="none">
            <a:spAutoFit/>
          </a:bodyPr>
          <a:lstStyle/>
          <a:p>
            <a:pPr>
              <a:defRPr sz="1300" b="1">
                <a:solidFill>
                  <a:srgbClr val="1E3A8A"/>
                </a:solidFill>
              </a:defRPr>
            </a:pPr>
            <a:r>
              <a:t>2. Extreme Regional Format Fragmentation</a:t>
            </a:r>
          </a:p>
          <a:p>
            <a:pPr>
              <a:defRPr sz="1050">
                <a:solidFill>
                  <a:srgbClr val="1E293B"/>
                </a:solidFill>
              </a:defRPr>
            </a:pPr>
            <a:r>
              <a:t>Inconsistent schemas and vernacular languages across 28 states (e.g., 7/12 in Maharashtra, RoR/Jamabandi in MP, Kaveri in Karnataka, e-Stamp in UP).</a:t>
            </a:r>
          </a:p>
        </p:txBody>
      </p:sp>
      <p:sp>
        <p:nvSpPr>
          <p:cNvPr id="12" name="Rounded Rectangle 11"/>
          <p:cNvSpPr/>
          <p:nvPr/>
        </p:nvSpPr>
        <p:spPr>
          <a:xfrm>
            <a:off x="731520" y="4663440"/>
            <a:ext cx="6858000" cy="1417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663440"/>
            <a:ext cx="109728" cy="141732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754880"/>
            <a:ext cx="6400800" cy="1234440"/>
          </a:xfrm>
          <a:prstGeom prst="rect">
            <a:avLst/>
          </a:prstGeom>
          <a:noFill/>
        </p:spPr>
        <p:txBody>
          <a:bodyPr wrap="none">
            <a:spAutoFit/>
          </a:bodyPr>
          <a:lstStyle/>
          <a:p>
            <a:pPr>
              <a:defRPr sz="1300" b="1">
                <a:solidFill>
                  <a:srgbClr val="1E3A8A"/>
                </a:solidFill>
              </a:defRPr>
            </a:pPr>
            <a:r>
              <a:t>3. Severe Transcription Errors &amp; Title Fraud</a:t>
            </a:r>
          </a:p>
          <a:p>
            <a:pPr>
              <a:defRPr sz="1050">
                <a:solidFill>
                  <a:srgbClr val="1E293B"/>
                </a:solidFill>
              </a:defRPr>
            </a:pPr>
            <a:r>
              <a:t>Manual clerical entry produces high error rates, undetected duplicate registrations, overlapping parcel claims, and fraudulent mutations.</a:t>
            </a:r>
          </a:p>
        </p:txBody>
      </p:sp>
      <p:sp>
        <p:nvSpPr>
          <p:cNvPr id="15" name="Rounded Rectangle 14"/>
          <p:cNvSpPr/>
          <p:nvPr/>
        </p:nvSpPr>
        <p:spPr>
          <a:xfrm>
            <a:off x="7863840" y="1463040"/>
            <a:ext cx="3566160" cy="46177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1645920"/>
            <a:ext cx="3200400" cy="4206240"/>
          </a:xfrm>
          <a:prstGeom prst="rect">
            <a:avLst/>
          </a:prstGeom>
          <a:noFill/>
        </p:spPr>
        <p:txBody>
          <a:bodyPr wrap="none">
            <a:spAutoFit/>
          </a:bodyPr>
          <a:lstStyle/>
          <a:p>
            <a:pPr>
              <a:defRPr sz="1100" b="1">
                <a:solidFill>
                  <a:srgbClr val="4F46E5"/>
                </a:solidFill>
              </a:defRPr>
            </a:pPr>
            <a:r>
              <a:t>THE HARD REALITY</a:t>
            </a:r>
          </a:p>
          <a:p>
            <a:pPr>
              <a:defRPr sz="4800" b="1">
                <a:solidFill>
                  <a:srgbClr val="4338CA"/>
                </a:solidFill>
              </a:defRPr>
            </a:pPr>
            <a:r>
              <a:t>&gt; 65%</a:t>
            </a:r>
          </a:p>
          <a:p>
            <a:pPr>
              <a:defRPr sz="1200" b="1">
                <a:solidFill>
                  <a:srgbClr val="1E293B"/>
                </a:solidFill>
              </a:defRPr>
            </a:pPr>
            <a:r>
              <a:t>of all civil litigation in Indian courts relates to land, boundary, and property disputes.</a:t>
            </a:r>
          </a:p>
          <a:p>
            <a:br/>
            <a:pPr>
              <a:defRPr sz="1000">
                <a:solidFill>
                  <a:srgbClr val="1E293B"/>
                </a:solidFill>
              </a:defRPr>
            </a:pPr>
            <a:r>
              <a:t>• Average land dispute resolution: 15–20 years in court.</a:t>
            </a:r>
            <a:br/>
            <a:r>
              <a:t>• Estimated capital trapped: ₹14 Lakh Crore.</a:t>
            </a:r>
            <a:br/>
            <a:r>
              <a:t>• Direct bottleneck for national infrastructure corridors.</a:t>
            </a:r>
            <a:br/>
            <a:br/>
            <a:r>
              <a:t>LandLens AI solves this at the root: establishing a single, verified digital source of truth.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2. System Architecture: The 9 Core Architectural Pillars</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347472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3200400" cy="1280160"/>
          </a:xfrm>
          <a:prstGeom prst="rect">
            <a:avLst/>
          </a:prstGeom>
          <a:noFill/>
        </p:spPr>
        <p:txBody>
          <a:bodyPr wrap="none">
            <a:spAutoFit/>
          </a:bodyPr>
          <a:lstStyle/>
          <a:p>
            <a:pPr>
              <a:defRPr sz="1100" b="1">
                <a:solidFill>
                  <a:srgbClr val="1E3A8A"/>
                </a:solidFill>
              </a:defRPr>
            </a:pPr>
            <a:r>
              <a:t>Pillar 1: Adaptive Computer Vision</a:t>
            </a:r>
          </a:p>
          <a:p>
            <a:pPr>
              <a:defRPr sz="900">
                <a:solidFill>
                  <a:srgbClr val="1E293B"/>
                </a:solidFill>
              </a:defRPr>
            </a:pPr>
            <a:r>
              <a:t>CLAHE, bilateral filtering, Hough deskewing, and adaptive binarization for 50-year-old paper.</a:t>
            </a:r>
          </a:p>
        </p:txBody>
      </p:sp>
      <p:sp>
        <p:nvSpPr>
          <p:cNvPr id="9" name="Rounded Rectangle 8"/>
          <p:cNvSpPr/>
          <p:nvPr/>
        </p:nvSpPr>
        <p:spPr>
          <a:xfrm>
            <a:off x="4343400" y="146304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463040"/>
            <a:ext cx="347472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572768"/>
            <a:ext cx="3200400" cy="1280160"/>
          </a:xfrm>
          <a:prstGeom prst="rect">
            <a:avLst/>
          </a:prstGeom>
          <a:noFill/>
        </p:spPr>
        <p:txBody>
          <a:bodyPr wrap="none">
            <a:spAutoFit/>
          </a:bodyPr>
          <a:lstStyle/>
          <a:p>
            <a:pPr>
              <a:defRPr sz="1100" b="1">
                <a:solidFill>
                  <a:srgbClr val="1E3A8A"/>
                </a:solidFill>
              </a:defRPr>
            </a:pPr>
            <a:r>
              <a:t>Pillar 2: Bilingual OCR &amp; Digits</a:t>
            </a:r>
          </a:p>
          <a:p>
            <a:pPr>
              <a:defRPr sz="900">
                <a:solidFill>
                  <a:srgbClr val="1E293B"/>
                </a:solidFill>
              </a:defRPr>
            </a:pPr>
            <a:r>
              <a:t>Ensemble OCR for English &amp; Hindi; native normalization of handwritten Devanagari numerals.</a:t>
            </a:r>
          </a:p>
        </p:txBody>
      </p:sp>
      <p:sp>
        <p:nvSpPr>
          <p:cNvPr id="12" name="Rounded Rectangle 11"/>
          <p:cNvSpPr/>
          <p:nvPr/>
        </p:nvSpPr>
        <p:spPr>
          <a:xfrm>
            <a:off x="7955280" y="146304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80" y="1463040"/>
            <a:ext cx="347472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572768"/>
            <a:ext cx="3200400" cy="1280160"/>
          </a:xfrm>
          <a:prstGeom prst="rect">
            <a:avLst/>
          </a:prstGeom>
          <a:noFill/>
        </p:spPr>
        <p:txBody>
          <a:bodyPr wrap="none">
            <a:spAutoFit/>
          </a:bodyPr>
          <a:lstStyle/>
          <a:p>
            <a:pPr>
              <a:defRPr sz="1100" b="1">
                <a:solidFill>
                  <a:srgbClr val="1E3A8A"/>
                </a:solidFill>
              </a:defRPr>
            </a:pPr>
            <a:r>
              <a:t>Pillar 3: Land Record Discriminator</a:t>
            </a:r>
          </a:p>
          <a:p>
            <a:pPr>
              <a:defRPr sz="900">
                <a:solidFill>
                  <a:srgbClr val="1E293B"/>
                </a:solidFill>
              </a:defRPr>
            </a:pPr>
            <a:r>
              <a:t>Hybrid ML + lexical classifier rejecting invoices, resumes, utility bills, and fraud attempts.</a:t>
            </a:r>
          </a:p>
        </p:txBody>
      </p:sp>
      <p:sp>
        <p:nvSpPr>
          <p:cNvPr id="15" name="Rounded Rectangle 14"/>
          <p:cNvSpPr/>
          <p:nvPr/>
        </p:nvSpPr>
        <p:spPr>
          <a:xfrm>
            <a:off x="731520" y="310896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108960"/>
            <a:ext cx="347472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18688"/>
            <a:ext cx="3200400" cy="1280160"/>
          </a:xfrm>
          <a:prstGeom prst="rect">
            <a:avLst/>
          </a:prstGeom>
          <a:noFill/>
        </p:spPr>
        <p:txBody>
          <a:bodyPr wrap="none">
            <a:spAutoFit/>
          </a:bodyPr>
          <a:lstStyle/>
          <a:p>
            <a:pPr>
              <a:defRPr sz="1100" b="1">
                <a:solidFill>
                  <a:srgbClr val="1E3A8A"/>
                </a:solidFill>
              </a:defRPr>
            </a:pPr>
            <a:r>
              <a:t>Pillar 4: Domain Land NER &amp; Parsing</a:t>
            </a:r>
          </a:p>
          <a:p>
            <a:pPr>
              <a:defRPr sz="900">
                <a:solidFill>
                  <a:srgbClr val="1E293B"/>
                </a:solidFill>
              </a:defRPr>
            </a:pPr>
            <a:r>
              <a:t>Extracts 16 revenue entities; decomposes complex urban conveyance deed parcel descriptions.</a:t>
            </a:r>
          </a:p>
        </p:txBody>
      </p:sp>
      <p:sp>
        <p:nvSpPr>
          <p:cNvPr id="18" name="Rounded Rectangle 17"/>
          <p:cNvSpPr/>
          <p:nvPr/>
        </p:nvSpPr>
        <p:spPr>
          <a:xfrm>
            <a:off x="4343400" y="310896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3108960"/>
            <a:ext cx="347472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3218688"/>
            <a:ext cx="3200400" cy="1280160"/>
          </a:xfrm>
          <a:prstGeom prst="rect">
            <a:avLst/>
          </a:prstGeom>
          <a:noFill/>
        </p:spPr>
        <p:txBody>
          <a:bodyPr wrap="none">
            <a:spAutoFit/>
          </a:bodyPr>
          <a:lstStyle/>
          <a:p>
            <a:pPr>
              <a:defRPr sz="1100" b="1">
                <a:solidFill>
                  <a:srgbClr val="1E3A8A"/>
                </a:solidFill>
              </a:defRPr>
            </a:pPr>
            <a:r>
              <a:t>Pillar 5: Online Continuous Learning</a:t>
            </a:r>
          </a:p>
          <a:p>
            <a:pPr>
              <a:defRPr sz="900">
                <a:solidFill>
                  <a:srgbClr val="1E293B"/>
                </a:solidFill>
              </a:defRPr>
            </a:pPr>
            <a:r>
              <a:t>&lt;500ms real-time online adaptation with Experience Replay memory buffers (0.0% forgetting).</a:t>
            </a:r>
          </a:p>
        </p:txBody>
      </p:sp>
      <p:sp>
        <p:nvSpPr>
          <p:cNvPr id="21" name="Rounded Rectangle 20"/>
          <p:cNvSpPr/>
          <p:nvPr/>
        </p:nvSpPr>
        <p:spPr>
          <a:xfrm>
            <a:off x="7955280" y="310896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80" y="3108960"/>
            <a:ext cx="347472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3218688"/>
            <a:ext cx="3200400" cy="1280160"/>
          </a:xfrm>
          <a:prstGeom prst="rect">
            <a:avLst/>
          </a:prstGeom>
          <a:noFill/>
        </p:spPr>
        <p:txBody>
          <a:bodyPr wrap="none">
            <a:spAutoFit/>
          </a:bodyPr>
          <a:lstStyle/>
          <a:p>
            <a:pPr>
              <a:defRPr sz="1100" b="1">
                <a:solidFill>
                  <a:srgbClr val="1E3A8A"/>
                </a:solidFill>
              </a:defRPr>
            </a:pPr>
            <a:r>
              <a:t>Pillar 6: Statutory Cadastral Rules</a:t>
            </a:r>
          </a:p>
          <a:p>
            <a:pPr>
              <a:defRPr sz="900">
                <a:solidFill>
                  <a:srgbClr val="1E293B"/>
                </a:solidFill>
              </a:defRPr>
            </a:pPr>
            <a:r>
              <a:t>Validates area thresholds, missing attributes, and phonetic duplicate registrations via RapidFuzz.</a:t>
            </a:r>
          </a:p>
        </p:txBody>
      </p:sp>
      <p:sp>
        <p:nvSpPr>
          <p:cNvPr id="24" name="Rounded Rectangle 23"/>
          <p:cNvSpPr/>
          <p:nvPr/>
        </p:nvSpPr>
        <p:spPr>
          <a:xfrm>
            <a:off x="731520" y="475488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754880"/>
            <a:ext cx="347472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864608"/>
            <a:ext cx="3200400" cy="1280160"/>
          </a:xfrm>
          <a:prstGeom prst="rect">
            <a:avLst/>
          </a:prstGeom>
          <a:noFill/>
        </p:spPr>
        <p:txBody>
          <a:bodyPr wrap="none">
            <a:spAutoFit/>
          </a:bodyPr>
          <a:lstStyle/>
          <a:p>
            <a:pPr>
              <a:defRPr sz="1100" b="1">
                <a:solidFill>
                  <a:srgbClr val="1E3A8A"/>
                </a:solidFill>
              </a:defRPr>
            </a:pPr>
            <a:r>
              <a:t>Pillar 7: HITL Verification Studio</a:t>
            </a:r>
          </a:p>
          <a:p>
            <a:pPr>
              <a:defRPr sz="900">
                <a:solidFill>
                  <a:srgbClr val="1E293B"/>
                </a:solidFill>
              </a:defRPr>
            </a:pPr>
            <a:r>
              <a:t>3-column interactive workspace with zoomable scan, confidence tags, and one-click officer approval.</a:t>
            </a:r>
          </a:p>
        </p:txBody>
      </p:sp>
      <p:sp>
        <p:nvSpPr>
          <p:cNvPr id="27" name="Rounded Rectangle 26"/>
          <p:cNvSpPr/>
          <p:nvPr/>
        </p:nvSpPr>
        <p:spPr>
          <a:xfrm>
            <a:off x="4343400" y="475488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43400" y="4754880"/>
            <a:ext cx="347472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864608"/>
            <a:ext cx="3200400" cy="1280160"/>
          </a:xfrm>
          <a:prstGeom prst="rect">
            <a:avLst/>
          </a:prstGeom>
          <a:noFill/>
        </p:spPr>
        <p:txBody>
          <a:bodyPr wrap="none">
            <a:spAutoFit/>
          </a:bodyPr>
          <a:lstStyle/>
          <a:p>
            <a:pPr>
              <a:defRPr sz="1100" b="1">
                <a:solidFill>
                  <a:srgbClr val="1E3A8A"/>
                </a:solidFill>
              </a:defRPr>
            </a:pPr>
            <a:r>
              <a:t>Pillar 8: Cadastral GIS &amp; Audit Trail</a:t>
            </a:r>
          </a:p>
          <a:p>
            <a:pPr>
              <a:defRPr sz="900">
                <a:solidFill>
                  <a:srgbClr val="1E293B"/>
                </a:solidFill>
              </a:defRPr>
            </a:pPr>
            <a:r>
              <a:t>Synchronized parcel polygons on satellite maps; immutable audit log of all decisions.</a:t>
            </a:r>
          </a:p>
        </p:txBody>
      </p:sp>
      <p:sp>
        <p:nvSpPr>
          <p:cNvPr id="30" name="Rounded Rectangle 29"/>
          <p:cNvSpPr/>
          <p:nvPr/>
        </p:nvSpPr>
        <p:spPr>
          <a:xfrm>
            <a:off x="7955280" y="4754880"/>
            <a:ext cx="3474720"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55280" y="4754880"/>
            <a:ext cx="347472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4864608"/>
            <a:ext cx="3200400" cy="1280160"/>
          </a:xfrm>
          <a:prstGeom prst="rect">
            <a:avLst/>
          </a:prstGeom>
          <a:noFill/>
        </p:spPr>
        <p:txBody>
          <a:bodyPr wrap="none">
            <a:spAutoFit/>
          </a:bodyPr>
          <a:lstStyle/>
          <a:p>
            <a:pPr>
              <a:defRPr sz="1100" b="1">
                <a:solidFill>
                  <a:srgbClr val="1E3A8A"/>
                </a:solidFill>
              </a:defRPr>
            </a:pPr>
            <a:r>
              <a:t>Pillar 9: Gemini 3.1 Pro Intelligence</a:t>
            </a:r>
          </a:p>
          <a:p>
            <a:pPr>
              <a:defRPr sz="900">
                <a:solidFill>
                  <a:srgbClr val="1E293B"/>
                </a:solidFill>
              </a:defRPr>
            </a:pPr>
            <a:r>
              <a:t>AI Assistant with real-time state circle rates, RFCTLARR Act compensation, and mega project tracker.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3. Pillars 1 &amp; 2: Computer Vision Pipeline &amp; Devanagari OCR</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4389120"/>
          </a:xfrm>
          <a:prstGeom prst="rect">
            <a:avLst/>
          </a:prstGeom>
          <a:noFill/>
        </p:spPr>
        <p:txBody>
          <a:bodyPr wrap="none">
            <a:spAutoFit/>
          </a:bodyPr>
          <a:lstStyle/>
          <a:p>
            <a:pPr>
              <a:defRPr sz="1300" b="1">
                <a:solidFill>
                  <a:srgbClr val="1E3A8A"/>
                </a:solidFill>
              </a:defRPr>
            </a:pPr>
            <a:r>
              <a:t>PILLAR 1: ADAPTIVE COMPUTER VISION PIPELINE</a:t>
            </a:r>
          </a:p>
          <a:p>
            <a:pPr>
              <a:defRPr sz="950">
                <a:solidFill>
                  <a:srgbClr val="1E293B"/>
                </a:solidFill>
              </a:defRPr>
            </a:pPr>
            <a:r>
              <a:t>• Laplacian Variance Quality Metric: Evaluates sharpness score to detect blurred scanner inputs automatically.</a:t>
            </a:r>
          </a:p>
          <a:p>
            <a:pPr>
              <a:defRPr sz="950">
                <a:solidFill>
                  <a:srgbClr val="1E293B"/>
                </a:solidFill>
              </a:defRPr>
            </a:pPr>
            <a:r>
              <a:t>• Bilateral Filtering (Edge-Preserving): Smooths heavy scanner paper speckles and yellowing without softening character edges.</a:t>
            </a:r>
          </a:p>
          <a:p>
            <a:pPr>
              <a:defRPr sz="950">
                <a:solidFill>
                  <a:srgbClr val="1E293B"/>
                </a:solidFill>
              </a:defRPr>
            </a:pPr>
            <a:r>
              <a:t>• CLAHE (Contrast-Limited Adaptive Histogram): Rescues faded, degraded 50-year-old ink entries by enhancing local tile contrast.</a:t>
            </a:r>
          </a:p>
          <a:p>
            <a:pPr>
              <a:defRPr sz="950">
                <a:solidFill>
                  <a:srgbClr val="1E293B"/>
                </a:solidFill>
              </a:defRPr>
            </a:pPr>
            <a:r>
              <a:t>• Minimum Area Bounding-Box Deskewing: Detects angle of text contour orientation and performs affine rotation correction.</a:t>
            </a:r>
          </a:p>
          <a:p>
            <a:pPr>
              <a:defRPr sz="950">
                <a:solidFill>
                  <a:srgbClr val="1E293B"/>
                </a:solidFill>
              </a:defRPr>
            </a:pPr>
            <a:r>
              <a:t>• Adaptive Dual-Threshold Binarization: Converts multi-shade paper textures into clean monochrome pixels for OCR parsing.</a:t>
            </a:r>
          </a:p>
        </p:txBody>
      </p:sp>
      <p:sp>
        <p:nvSpPr>
          <p:cNvPr id="8" name="Rounded Rectangle 7"/>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389120"/>
          </a:xfrm>
          <a:prstGeom prst="rect">
            <a:avLst/>
          </a:prstGeom>
          <a:noFill/>
        </p:spPr>
        <p:txBody>
          <a:bodyPr wrap="none">
            <a:spAutoFit/>
          </a:bodyPr>
          <a:lstStyle/>
          <a:p>
            <a:pPr>
              <a:defRPr sz="1300" b="1">
                <a:solidFill>
                  <a:srgbClr val="1E3A8A"/>
                </a:solidFill>
              </a:defRPr>
            </a:pPr>
            <a:r>
              <a:t>PILLAR 2: BILINGUAL OCR &amp; NUMERAL NORMALIZATION</a:t>
            </a:r>
          </a:p>
          <a:p>
            <a:pPr>
              <a:defRPr sz="950">
                <a:solidFill>
                  <a:srgbClr val="1E293B"/>
                </a:solidFill>
              </a:defRPr>
            </a:pPr>
            <a:r>
              <a:t>• Modular Pluggable Architecture: Dynamic provider integration: EasyOCR, Tesseract, PDF stream extractor, and fallback engines.</a:t>
            </a:r>
          </a:p>
          <a:p>
            <a:pPr>
              <a:defRPr sz="950">
                <a:solidFill>
                  <a:srgbClr val="1E293B"/>
                </a:solidFill>
              </a:defRPr>
            </a:pPr>
            <a:r>
              <a:t>• Devanagari (Hindi) + English Script: Extracts character-level bounding boxes across mixed bilingual revenue deeds.</a:t>
            </a:r>
          </a:p>
          <a:p>
            <a:pPr>
              <a:defRPr sz="950">
                <a:solidFill>
                  <a:srgbClr val="1E293B"/>
                </a:solidFill>
              </a:defRPr>
            </a:pPr>
            <a:r>
              <a:t>• Native Devanagari Numeral Normalizer: Transforms handwritten Patwari Hindi digits to standard digital numerals:</a:t>
            </a:r>
          </a:p>
          <a:p>
            <a:pPr>
              <a:defRPr sz="950" b="1">
                <a:solidFill>
                  <a:srgbClr val="B45309"/>
                </a:solidFill>
              </a:defRPr>
            </a:pPr>
            <a:r>
              <a:t>•   • '२४५/२'  ➜  '245/2'  (Khasra Number)</a:t>
            </a:r>
          </a:p>
          <a:p>
            <a:pPr>
              <a:defRPr sz="950" b="1">
                <a:solidFill>
                  <a:srgbClr val="B45309"/>
                </a:solidFill>
              </a:defRPr>
            </a:pPr>
            <a:r>
              <a:t>•   • '११२'    ➜  '112'    (Khata Number)</a:t>
            </a:r>
          </a:p>
          <a:p>
            <a:pPr>
              <a:defRPr sz="950" b="1">
                <a:solidFill>
                  <a:srgbClr val="B45309"/>
                </a:solidFill>
              </a:defRPr>
            </a:pPr>
            <a:r>
              <a:t>•   • '४४१'    ➜  '441'    (Mutation Register Number)</a:t>
            </a:r>
          </a:p>
          <a:p>
            <a:pPr>
              <a:defRPr sz="950">
                <a:solidFill>
                  <a:srgbClr val="1E293B"/>
                </a:solidFill>
              </a:defRPr>
            </a:pPr>
            <a:r>
              <a:t>• Regularized Devanagari CNN Model: Trained with L2 regularization, dropout, and batch norm on 7,800 augmented Indic samples.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4. Pillars 3 &amp; 4: Intelligent Discriminator &amp; Domain NER</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4389120"/>
          </a:xfrm>
          <a:prstGeom prst="rect">
            <a:avLst/>
          </a:prstGeom>
          <a:noFill/>
        </p:spPr>
        <p:txBody>
          <a:bodyPr wrap="none">
            <a:spAutoFit/>
          </a:bodyPr>
          <a:lstStyle/>
          <a:p>
            <a:pPr>
              <a:defRPr sz="1300" b="1">
                <a:solidFill>
                  <a:srgbClr val="1E3A8A"/>
                </a:solidFill>
              </a:defRPr>
            </a:pPr>
            <a:r>
              <a:t>PILLAR 3: INTELLIGENT DISCRIMINATOR &amp; FRAUD GUARD</a:t>
            </a:r>
          </a:p>
          <a:p>
            <a:pPr>
              <a:defRPr sz="950">
                <a:solidFill>
                  <a:srgbClr val="1E293B"/>
                </a:solidFill>
              </a:defRPr>
            </a:pPr>
            <a:r>
              <a:t>• The Challenge: Existing OCR systems process any uploaded image indiscriminately, polluting government databases with invoices or resumes.</a:t>
            </a:r>
          </a:p>
          <a:p>
            <a:pPr>
              <a:defRPr sz="950">
                <a:solidFill>
                  <a:srgbClr val="1E293B"/>
                </a:solidFill>
              </a:defRPr>
            </a:pPr>
            <a:r>
              <a:t>• Two-Stage Ensemble Architecture: Stage 1: Lexical domain semantics (Devanagari + English)</a:t>
            </a:r>
            <a:br/>
            <a:r>
              <a:t>Stage 2: Regularized TF-IDF + Logistic Regression ML discriminator.</a:t>
            </a:r>
          </a:p>
          <a:p>
            <a:pPr>
              <a:defRPr sz="950">
                <a:solidFill>
                  <a:srgbClr val="1E293B"/>
                </a:solidFill>
              </a:defRPr>
            </a:pPr>
            <a:r>
              <a:t>• Guaranteed Rejection of Non-Land Files: Accurately detects and blocks:</a:t>
            </a:r>
            <a:br/>
            <a:r>
              <a:t>• Commercial Tax Invoices &amp; Billing Receipts</a:t>
            </a:r>
            <a:br/>
            <a:r>
              <a:t>• Resumes, CVs, and Personal Letters</a:t>
            </a:r>
            <a:br/>
            <a:r>
              <a:t>• Clinical / Medical Reports &amp; Prescriptions</a:t>
            </a:r>
            <a:br/>
            <a:r>
              <a:t>• Bank Statements, Utility Bills &amp; Identity Cards.</a:t>
            </a:r>
          </a:p>
          <a:p>
            <a:pPr>
              <a:defRPr sz="950">
                <a:solidFill>
                  <a:srgbClr val="1E293B"/>
                </a:solidFill>
              </a:defRPr>
            </a:pPr>
            <a:r>
              <a:t>• Interactive Amber Warning Modal: Alerts the officer instantly before database insertion, stopping invalid data at the ingestion gate.</a:t>
            </a:r>
          </a:p>
        </p:txBody>
      </p:sp>
      <p:sp>
        <p:nvSpPr>
          <p:cNvPr id="8" name="Rounded Rectangle 7"/>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389120"/>
          </a:xfrm>
          <a:prstGeom prst="rect">
            <a:avLst/>
          </a:prstGeom>
          <a:noFill/>
        </p:spPr>
        <p:txBody>
          <a:bodyPr wrap="none">
            <a:spAutoFit/>
          </a:bodyPr>
          <a:lstStyle/>
          <a:p>
            <a:pPr>
              <a:defRPr sz="1300" b="1">
                <a:solidFill>
                  <a:srgbClr val="1E3A8A"/>
                </a:solidFill>
              </a:defRPr>
            </a:pPr>
            <a:r>
              <a:t>PILLAR 4: DOMAIN NER &amp; DEED DECOMPOSITION</a:t>
            </a:r>
          </a:p>
          <a:p>
            <a:pPr>
              <a:defRPr sz="950">
                <a:solidFill>
                  <a:srgbClr val="1E293B"/>
                </a:solidFill>
              </a:defRPr>
            </a:pPr>
            <a:r>
              <a:t>• 16 Standardized Land Record Attributes Extracted: Owner Name, Father/Husband's Name, Khasra Number, Khata Number, Survey Number, Plot Number, Village, Tehsil, District, State, Land Area (Hectares), Land Type, Registration Number, Mutation Number, Document Number, Date.</a:t>
            </a:r>
          </a:p>
          <a:p>
            <a:pPr>
              <a:defRPr sz="950">
                <a:solidFill>
                  <a:srgbClr val="1E293B"/>
                </a:solidFill>
              </a:defRPr>
            </a:pPr>
            <a:r>
              <a:t>• Bilingual Entity Parsing Engine: Trained on 2,000+ annotated Jamabandi, Khatauni, and e-Stamp records using 5-token contextual sliding windows.</a:t>
            </a:r>
          </a:p>
          <a:p>
            <a:pPr>
              <a:defRPr sz="950">
                <a:solidFill>
                  <a:srgbClr val="1E293B"/>
                </a:solidFill>
              </a:defRPr>
            </a:pPr>
            <a:r>
              <a:t>• Complex Urban Conveyance Decomposition: Parses long composite property descriptions in e-Stamp deeds (Flat No, Sector, Society, SUBIN code, consideration price, and stamp duty paid).</a:t>
            </a:r>
          </a:p>
          <a:p>
            <a:pPr>
              <a:defRPr sz="950">
                <a:solidFill>
                  <a:srgbClr val="1E293B"/>
                </a:solidFill>
              </a:defRPr>
            </a:pPr>
            <a:r>
              <a:t>• Multi-Factor Confidence Scoring: Calculates composite confidence: 0.45 x OCR + 0.35 x Pattern + 0.20 x Proximity (Categorized as HIGH, MED, 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5. Pillars 5 &amp; 6: Real-Time Online Adaptation &amp; Fraud Check</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4389120"/>
          </a:xfrm>
          <a:prstGeom prst="rect">
            <a:avLst/>
          </a:prstGeom>
          <a:noFill/>
        </p:spPr>
        <p:txBody>
          <a:bodyPr wrap="none">
            <a:spAutoFit/>
          </a:bodyPr>
          <a:lstStyle/>
          <a:p>
            <a:pPr>
              <a:defRPr sz="1300" b="1">
                <a:solidFill>
                  <a:srgbClr val="1E3A8A"/>
                </a:solidFill>
              </a:defRPr>
            </a:pPr>
            <a:r>
              <a:t>PILLAR 5: REAL-TIME CONTINUOUS ADAPTATION (&lt;500ms)</a:t>
            </a:r>
          </a:p>
          <a:p>
            <a:pPr>
              <a:defRPr sz="950">
                <a:solidFill>
                  <a:srgbClr val="1E293B"/>
                </a:solidFill>
              </a:defRPr>
            </a:pPr>
            <a:r>
              <a:t>• The Enterprise Dilemma: Traditional cloud ML models require months of vendor retraining when encountering new regional deed formats.</a:t>
            </a:r>
          </a:p>
          <a:p>
            <a:pPr>
              <a:defRPr sz="950">
                <a:solidFill>
                  <a:srgbClr val="1E293B"/>
                </a:solidFill>
              </a:defRPr>
            </a:pPr>
            <a:r>
              <a:t>• Sub-500ms Fast Online Adaptation: Empowers revenue officers to adapt the model to newly observed deed formats in real-time right from the browser.</a:t>
            </a:r>
          </a:p>
          <a:p>
            <a:pPr>
              <a:defRPr sz="950">
                <a:solidFill>
                  <a:srgbClr val="1E293B"/>
                </a:solidFill>
              </a:defRPr>
            </a:pPr>
            <a:r>
              <a:t>• Mathematical Anti-Catastrophic Forgetting: Integrates Experience Replay with persistent exemplar memory buffers to ensure historical deed accuracy is never degraded.</a:t>
            </a:r>
          </a:p>
          <a:p>
            <a:pPr>
              <a:defRPr sz="950">
                <a:solidFill>
                  <a:srgbClr val="1E293B"/>
                </a:solidFill>
              </a:defRPr>
            </a:pPr>
            <a:r>
              <a:t>• Empirical Zero-Forgetting Verification: 0.0% accuracy drop on historical Jamabandi records after adapting on UP e-Stamp deeds.</a:t>
            </a:r>
          </a:p>
          <a:p>
            <a:pPr>
              <a:defRPr sz="950">
                <a:solidFill>
                  <a:srgbClr val="1E293B"/>
                </a:solidFill>
              </a:defRPr>
            </a:pPr>
            <a:r>
              <a:t>• Privacy &amp; Sovereignty: All continuous learning executes 100% locally on government premises with zero cloud data exfiltration.</a:t>
            </a:r>
          </a:p>
        </p:txBody>
      </p:sp>
      <p:sp>
        <p:nvSpPr>
          <p:cNvPr id="8" name="Rounded Rectangle 7"/>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389120"/>
          </a:xfrm>
          <a:prstGeom prst="rect">
            <a:avLst/>
          </a:prstGeom>
          <a:noFill/>
        </p:spPr>
        <p:txBody>
          <a:bodyPr wrap="none">
            <a:spAutoFit/>
          </a:bodyPr>
          <a:lstStyle/>
          <a:p>
            <a:pPr>
              <a:defRPr sz="1300" b="1">
                <a:solidFill>
                  <a:srgbClr val="1E3A8A"/>
                </a:solidFill>
              </a:defRPr>
            </a:pPr>
            <a:r>
              <a:t>PILLAR 6: STATUTORY VALIDATION &amp; DUPLICATE DETECTION</a:t>
            </a:r>
          </a:p>
          <a:p>
            <a:pPr>
              <a:defRPr sz="950">
                <a:solidFill>
                  <a:srgbClr val="1E293B"/>
                </a:solidFill>
              </a:defRPr>
            </a:pPr>
            <a:r>
              <a:t>• Phonetic &amp; Levenshtein Fuzzy Matching: Detects deceptive name variations on duplicate claims (e.g., 'Ramkumar' vs 'Ram Kumar' on Khasra 245/2) using RapidFuzz token-sort similarity.</a:t>
            </a:r>
          </a:p>
          <a:p>
            <a:pPr>
              <a:defRPr sz="950">
                <a:solidFill>
                  <a:srgbClr val="1E293B"/>
                </a:solidFill>
              </a:defRPr>
            </a:pPr>
            <a:r>
              <a:t>• Statutory Range Anomaly Guard: Flags parcels exceeding 50.0 Hectares as 'Unusual Land Area — Verification Required' to prevent fraudulent multi-village allotments.</a:t>
            </a:r>
          </a:p>
          <a:p>
            <a:pPr>
              <a:defRPr sz="950">
                <a:solidFill>
                  <a:srgbClr val="1E293B"/>
                </a:solidFill>
              </a:defRPr>
            </a:pPr>
            <a:r>
              <a:t>• Cross-Field Geographic Alignment: Validates Tehsil against District using national administrative taxonomy (data.gov.in standard).</a:t>
            </a:r>
          </a:p>
          <a:p>
            <a:pPr>
              <a:defRPr sz="950">
                <a:solidFill>
                  <a:srgbClr val="1E293B"/>
                </a:solidFill>
              </a:defRPr>
            </a:pPr>
            <a:r>
              <a:t>• Missing Mandatory Field Alerts: Flags missing Khasra numbers, dates, or owner names with visual Amber/Red badges.</a:t>
            </a:r>
          </a:p>
          <a:p>
            <a:pPr>
              <a:defRPr sz="950">
                <a:solidFill>
                  <a:srgbClr val="1E293B"/>
                </a:solidFill>
              </a:defRPr>
            </a:pPr>
            <a:r>
              <a:t>• Non-Destructive Decision Support: Generates match similarity scores without auto-deleting records, empowering officers with side-by-side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6. Pillars 7, 8 &amp; 9: Verification Studio, Cadastral GIS &amp; Gemini AI</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7472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347472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3200400" cy="4389120"/>
          </a:xfrm>
          <a:prstGeom prst="rect">
            <a:avLst/>
          </a:prstGeom>
          <a:noFill/>
        </p:spPr>
        <p:txBody>
          <a:bodyPr wrap="none">
            <a:spAutoFit/>
          </a:bodyPr>
          <a:lstStyle/>
          <a:p>
            <a:pPr>
              <a:defRPr sz="1100" b="1">
                <a:solidFill>
                  <a:srgbClr val="1E3A8A"/>
                </a:solidFill>
              </a:defRPr>
            </a:pPr>
            <a:r>
              <a:t>PILLAR 7: HITL VERIFICATION STUDIO</a:t>
            </a:r>
          </a:p>
          <a:p>
            <a:br/>
            <a:pPr>
              <a:defRPr sz="900">
                <a:solidFill>
                  <a:srgbClr val="1E293B"/>
                </a:solidFill>
              </a:defRPr>
            </a:pPr>
            <a:r>
              <a:t>• 3-Column Verification Workspace: Left: Zoomable scan with Before/After CV toggle; Center: Editable bilingual fields; Right: AI alerts.</a:t>
            </a:r>
          </a:p>
          <a:p>
            <a:br/>
            <a:pPr>
              <a:defRPr sz="900">
                <a:solidFill>
                  <a:srgbClr val="1E293B"/>
                </a:solidFill>
              </a:defRPr>
            </a:pPr>
            <a:r>
              <a:t>• Inline Confidence Color Badging: Green (&gt;=90%), Amber (70-89%), Red (&lt;70% triggering mandatory officer check).</a:t>
            </a:r>
          </a:p>
          <a:p>
            <a:br/>
            <a:pPr>
              <a:defRPr sz="900">
                <a:solidFill>
                  <a:srgbClr val="1E293B"/>
                </a:solidFill>
              </a:defRPr>
            </a:pPr>
            <a:r>
              <a:t>• One-Click Officer Action: Approve, edit field, or reject with statutory recorded reason.</a:t>
            </a:r>
          </a:p>
        </p:txBody>
      </p:sp>
      <p:sp>
        <p:nvSpPr>
          <p:cNvPr id="9" name="Rounded Rectangle 8"/>
          <p:cNvSpPr/>
          <p:nvPr/>
        </p:nvSpPr>
        <p:spPr>
          <a:xfrm>
            <a:off x="4343400" y="1463040"/>
            <a:ext cx="347472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463040"/>
            <a:ext cx="3474720"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3200400" cy="4389120"/>
          </a:xfrm>
          <a:prstGeom prst="rect">
            <a:avLst/>
          </a:prstGeom>
          <a:noFill/>
        </p:spPr>
        <p:txBody>
          <a:bodyPr wrap="none">
            <a:spAutoFit/>
          </a:bodyPr>
          <a:lstStyle/>
          <a:p>
            <a:pPr>
              <a:defRPr sz="1100" b="1">
                <a:solidFill>
                  <a:srgbClr val="1E3A8A"/>
                </a:solidFill>
              </a:defRPr>
            </a:pPr>
            <a:r>
              <a:t>PILLAR 8: CADASTRAL GIS &amp; AUDIT TRAIL</a:t>
            </a:r>
          </a:p>
          <a:p>
            <a:br/>
            <a:pPr>
              <a:defRPr sz="900">
                <a:solidFill>
                  <a:srgbClr val="1E293B"/>
                </a:solidFill>
              </a:defRPr>
            </a:pPr>
            <a:r>
              <a:t>• Interactive Parcel Visualizer: Dynamic Leaflet map rendering exact parcel boundary polygons linked to Khasra numbers.</a:t>
            </a:r>
          </a:p>
          <a:p>
            <a:br/>
            <a:pPr>
              <a:defRPr sz="900">
                <a:solidFill>
                  <a:srgbClr val="1E293B"/>
                </a:solidFill>
              </a:defRPr>
            </a:pPr>
            <a:r>
              <a:t>• Direct Deed-to-Map Navigation: Clicking any record instantly zooms to its cadastral polygon coordinate.</a:t>
            </a:r>
          </a:p>
          <a:p>
            <a:br/>
            <a:pPr>
              <a:defRPr sz="900">
                <a:solidFill>
                  <a:srgbClr val="1E293B"/>
                </a:solidFill>
              </a:defRPr>
            </a:pPr>
            <a:r>
              <a:t>• Immutable Cryptographic Audit Ledger: Captures timestamp, user ID, IP address, and every field adjustment for judicial proof.</a:t>
            </a:r>
          </a:p>
        </p:txBody>
      </p:sp>
      <p:sp>
        <p:nvSpPr>
          <p:cNvPr id="12" name="Rounded Rectangle 11"/>
          <p:cNvSpPr/>
          <p:nvPr/>
        </p:nvSpPr>
        <p:spPr>
          <a:xfrm>
            <a:off x="7955280" y="1463040"/>
            <a:ext cx="347472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80" y="1463040"/>
            <a:ext cx="3474720"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645920"/>
            <a:ext cx="3200400" cy="4389120"/>
          </a:xfrm>
          <a:prstGeom prst="rect">
            <a:avLst/>
          </a:prstGeom>
          <a:noFill/>
        </p:spPr>
        <p:txBody>
          <a:bodyPr wrap="none">
            <a:spAutoFit/>
          </a:bodyPr>
          <a:lstStyle/>
          <a:p>
            <a:pPr>
              <a:defRPr sz="1100" b="1">
                <a:solidFill>
                  <a:srgbClr val="1E3A8A"/>
                </a:solidFill>
              </a:defRPr>
            </a:pPr>
            <a:r>
              <a:t>PILLAR 9: GEMINI 3.1 PRO INTELLIGENCE</a:t>
            </a:r>
          </a:p>
          <a:p>
            <a:br/>
            <a:pPr>
              <a:defRPr sz="900">
                <a:solidFill>
                  <a:srgbClr val="1E293B"/>
                </a:solidFill>
              </a:defRPr>
            </a:pPr>
            <a:r>
              <a:t>• Real-Time State Circle Rates: Instant circle rates, ready reckoner values across 10 major states for land valuation.</a:t>
            </a:r>
          </a:p>
          <a:p>
            <a:br/>
            <a:pPr>
              <a:defRPr sz="900">
                <a:solidFill>
                  <a:srgbClr val="1E293B"/>
                </a:solidFill>
              </a:defRPr>
            </a:pPr>
            <a:r>
              <a:t>• RFCTLARR Act 2013 Compensation: Computes statutory rural multipliers (2x-4x), 100% Solatium, and 12% interest.</a:t>
            </a:r>
          </a:p>
          <a:p>
            <a:br/>
            <a:pPr>
              <a:defRPr sz="900">
                <a:solidFill>
                  <a:srgbClr val="1E293B"/>
                </a:solidFill>
              </a:defRPr>
            </a:pPr>
            <a:r>
              <a:t>• Live Mega Projects Tracker: Real-time acquisition tracking for Bharatmala, Bullet Train, and Jewar Airport.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7. Visual Evidence: Real-World Document Handling Across Categories</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303520"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ample_9_estamp_ghaziabad.jpg"/>
          <p:cNvPicPr>
            <a:picLocks noChangeAspect="1"/>
          </p:cNvPicPr>
          <p:nvPr/>
        </p:nvPicPr>
        <p:blipFill>
          <a:blip r:embed="rId2"/>
          <a:stretch>
            <a:fillRect/>
          </a:stretch>
        </p:blipFill>
        <p:spPr>
          <a:xfrm>
            <a:off x="868680" y="1554480"/>
            <a:ext cx="1645920" cy="2057400"/>
          </a:xfrm>
          <a:prstGeom prst="rect">
            <a:avLst/>
          </a:prstGeom>
        </p:spPr>
      </p:pic>
      <p:sp>
        <p:nvSpPr>
          <p:cNvPr id="8" name="TextBox 7"/>
          <p:cNvSpPr txBox="1"/>
          <p:nvPr/>
        </p:nvSpPr>
        <p:spPr>
          <a:xfrm>
            <a:off x="2651760" y="1554480"/>
            <a:ext cx="3200400" cy="2057400"/>
          </a:xfrm>
          <a:prstGeom prst="rect">
            <a:avLst/>
          </a:prstGeom>
          <a:noFill/>
        </p:spPr>
        <p:txBody>
          <a:bodyPr wrap="none">
            <a:spAutoFit/>
          </a:bodyPr>
          <a:lstStyle/>
          <a:p>
            <a:pPr>
              <a:defRPr sz="1100" b="1">
                <a:solidFill>
                  <a:srgbClr val="1E3A8A"/>
                </a:solidFill>
              </a:defRPr>
            </a:pPr>
            <a:r>
              <a:t>Figure 1: Official UP e-Stamp Deed</a:t>
            </a:r>
          </a:p>
          <a:p>
            <a:br/>
            <a:pPr>
              <a:defRPr sz="950">
                <a:solidFill>
                  <a:srgbClr val="1E293B"/>
                </a:solidFill>
              </a:defRPr>
            </a:pPr>
            <a:r>
              <a:t>Article 23 Conveyance with SHCIL seal, SUBIN number, consideration price &amp; urban flat description.</a:t>
            </a:r>
          </a:p>
        </p:txBody>
      </p:sp>
      <p:sp>
        <p:nvSpPr>
          <p:cNvPr id="9" name="Rounded Rectangle 8"/>
          <p:cNvSpPr/>
          <p:nvPr/>
        </p:nvSpPr>
        <p:spPr>
          <a:xfrm>
            <a:off x="6172200" y="1417320"/>
            <a:ext cx="5303520"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mple_11_handwritten_khasra.png"/>
          <p:cNvPicPr>
            <a:picLocks noChangeAspect="1"/>
          </p:cNvPicPr>
          <p:nvPr/>
        </p:nvPicPr>
        <p:blipFill>
          <a:blip r:embed="rId3"/>
          <a:stretch>
            <a:fillRect/>
          </a:stretch>
        </p:blipFill>
        <p:spPr>
          <a:xfrm>
            <a:off x="6309360" y="1554480"/>
            <a:ext cx="1645920" cy="2057400"/>
          </a:xfrm>
          <a:prstGeom prst="rect">
            <a:avLst/>
          </a:prstGeom>
        </p:spPr>
      </p:pic>
      <p:sp>
        <p:nvSpPr>
          <p:cNvPr id="11" name="TextBox 10"/>
          <p:cNvSpPr txBox="1"/>
          <p:nvPr/>
        </p:nvSpPr>
        <p:spPr>
          <a:xfrm>
            <a:off x="8092440" y="1554480"/>
            <a:ext cx="3200400" cy="2057400"/>
          </a:xfrm>
          <a:prstGeom prst="rect">
            <a:avLst/>
          </a:prstGeom>
          <a:noFill/>
        </p:spPr>
        <p:txBody>
          <a:bodyPr wrap="none">
            <a:spAutoFit/>
          </a:bodyPr>
          <a:lstStyle/>
          <a:p>
            <a:pPr>
              <a:defRPr sz="1100" b="1">
                <a:solidFill>
                  <a:srgbClr val="1E3A8A"/>
                </a:solidFill>
              </a:defRPr>
            </a:pPr>
            <a:r>
              <a:t>Figure 2: Handwritten Devanagari Khasra</a:t>
            </a:r>
          </a:p>
          <a:p>
            <a:br/>
            <a:pPr>
              <a:defRPr sz="950">
                <a:solidFill>
                  <a:srgbClr val="1E293B"/>
                </a:solidFill>
              </a:defRPr>
            </a:pPr>
            <a:r>
              <a:t>Patwari handwritten script &amp; numerals normalized to Arabic digits (२४५/२ -&gt; 245/2) at 96% confidence.</a:t>
            </a:r>
          </a:p>
        </p:txBody>
      </p:sp>
      <p:sp>
        <p:nvSpPr>
          <p:cNvPr id="12" name="Rounded Rectangle 11"/>
          <p:cNvSpPr/>
          <p:nvPr/>
        </p:nvSpPr>
        <p:spPr>
          <a:xfrm>
            <a:off x="731520" y="3886200"/>
            <a:ext cx="5303520"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mple_10_non_land_invoice.png"/>
          <p:cNvPicPr>
            <a:picLocks noChangeAspect="1"/>
          </p:cNvPicPr>
          <p:nvPr/>
        </p:nvPicPr>
        <p:blipFill>
          <a:blip r:embed="rId4"/>
          <a:stretch>
            <a:fillRect/>
          </a:stretch>
        </p:blipFill>
        <p:spPr>
          <a:xfrm>
            <a:off x="868680" y="4023360"/>
            <a:ext cx="1645920" cy="2057400"/>
          </a:xfrm>
          <a:prstGeom prst="rect">
            <a:avLst/>
          </a:prstGeom>
        </p:spPr>
      </p:pic>
      <p:sp>
        <p:nvSpPr>
          <p:cNvPr id="14" name="TextBox 13"/>
          <p:cNvSpPr txBox="1"/>
          <p:nvPr/>
        </p:nvSpPr>
        <p:spPr>
          <a:xfrm>
            <a:off x="2651760" y="4023360"/>
            <a:ext cx="3200400" cy="2057400"/>
          </a:xfrm>
          <a:prstGeom prst="rect">
            <a:avLst/>
          </a:prstGeom>
          <a:noFill/>
        </p:spPr>
        <p:txBody>
          <a:bodyPr wrap="none">
            <a:spAutoFit/>
          </a:bodyPr>
          <a:lstStyle/>
          <a:p>
            <a:pPr>
              <a:defRPr sz="1100" b="1">
                <a:solidFill>
                  <a:srgbClr val="1E3A8A"/>
                </a:solidFill>
              </a:defRPr>
            </a:pPr>
            <a:r>
              <a:t>Figure 3: Non-Land Commercial Invoice</a:t>
            </a:r>
          </a:p>
          <a:p>
            <a:br/>
            <a:pPr>
              <a:defRPr sz="950">
                <a:solidFill>
                  <a:srgbClr val="1E293B"/>
                </a:solidFill>
              </a:defRPr>
            </a:pPr>
            <a:r>
              <a:t>Commercial GSTIN billing file detected and rejected by Document Discriminator warning modal.</a:t>
            </a:r>
          </a:p>
        </p:txBody>
      </p:sp>
      <p:sp>
        <p:nvSpPr>
          <p:cNvPr id="15" name="Rounded Rectangle 14"/>
          <p:cNvSpPr/>
          <p:nvPr/>
        </p:nvSpPr>
        <p:spPr>
          <a:xfrm>
            <a:off x="6172200" y="3886200"/>
            <a:ext cx="5303520"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ample_1_clean_rau.png"/>
          <p:cNvPicPr>
            <a:picLocks noChangeAspect="1"/>
          </p:cNvPicPr>
          <p:nvPr/>
        </p:nvPicPr>
        <p:blipFill>
          <a:blip r:embed="rId5"/>
          <a:stretch>
            <a:fillRect/>
          </a:stretch>
        </p:blipFill>
        <p:spPr>
          <a:xfrm>
            <a:off x="6309360" y="4023360"/>
            <a:ext cx="1645920" cy="2057400"/>
          </a:xfrm>
          <a:prstGeom prst="rect">
            <a:avLst/>
          </a:prstGeom>
        </p:spPr>
      </p:pic>
      <p:sp>
        <p:nvSpPr>
          <p:cNvPr id="17" name="TextBox 16"/>
          <p:cNvSpPr txBox="1"/>
          <p:nvPr/>
        </p:nvSpPr>
        <p:spPr>
          <a:xfrm>
            <a:off x="8092440" y="4023360"/>
            <a:ext cx="3200400" cy="2057400"/>
          </a:xfrm>
          <a:prstGeom prst="rect">
            <a:avLst/>
          </a:prstGeom>
          <a:noFill/>
        </p:spPr>
        <p:txBody>
          <a:bodyPr wrap="none">
            <a:spAutoFit/>
          </a:bodyPr>
          <a:lstStyle/>
          <a:p>
            <a:pPr>
              <a:defRPr sz="1100" b="1">
                <a:solidFill>
                  <a:srgbClr val="1E3A8A"/>
                </a:solidFill>
              </a:defRPr>
            </a:pPr>
            <a:r>
              <a:t>Figure 4: Clean Jamabandi RoR (Rau)</a:t>
            </a:r>
          </a:p>
          <a:p>
            <a:br/>
            <a:pPr>
              <a:defRPr sz="950">
                <a:solidFill>
                  <a:srgbClr val="1E293B"/>
                </a:solidFill>
              </a:defRPr>
            </a:pPr>
            <a:r>
              <a:t>Standard statutory bilingual agricultural Record of Rights with verified boundary coordinates.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8. Competitive Advantage &amp; Solution Comparison Matrix</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17320"/>
          <a:ext cx="10728655" cy="4846320"/>
        </p:xfrm>
        <a:graphic>
          <a:graphicData uri="http://schemas.openxmlformats.org/drawingml/2006/table">
            <a:tbl>
              <a:tblPr firstRow="1" bandRow="1">
                <a:tableStyleId>{5C22544A-7EE6-4342-B048-85BDC9FD1C3A}</a:tableStyleId>
              </a:tblPr>
              <a:tblGrid>
                <a:gridCol w="2103120"/>
                <a:gridCol w="2560320"/>
                <a:gridCol w="2560320"/>
                <a:gridCol w="3504895"/>
              </a:tblGrid>
              <a:tr h="538480">
                <a:tc>
                  <a:txBody>
                    <a:bodyPr/>
                    <a:lstStyle/>
                    <a:p>
                      <a:pPr>
                        <a:defRPr sz="950" b="1">
                          <a:solidFill>
                            <a:srgbClr val="FFFFFF"/>
                          </a:solidFill>
                        </a:defRPr>
                      </a:pPr>
                      <a:r>
                        <a:t>Evaluation Dimension</a:t>
                      </a:r>
                    </a:p>
                  </a:txBody>
                  <a:tcPr>
                    <a:solidFill>
                      <a:srgbClr val="1E3A8A"/>
                    </a:solidFill>
                  </a:tcPr>
                </a:tc>
                <a:tc>
                  <a:txBody>
                    <a:bodyPr/>
                    <a:lstStyle/>
                    <a:p>
                      <a:pPr>
                        <a:defRPr sz="950" b="1">
                          <a:solidFill>
                            <a:srgbClr val="FFFFFF"/>
                          </a:solidFill>
                        </a:defRPr>
                      </a:pPr>
                      <a:r>
                        <a:t>Traditional Govt Portals</a:t>
                      </a:r>
                    </a:p>
                  </a:txBody>
                  <a:tcPr>
                    <a:solidFill>
                      <a:srgbClr val="1E3A8A"/>
                    </a:solidFill>
                  </a:tcPr>
                </a:tc>
                <a:tc>
                  <a:txBody>
                    <a:bodyPr/>
                    <a:lstStyle/>
                    <a:p>
                      <a:pPr>
                        <a:defRPr sz="950" b="1">
                          <a:solidFill>
                            <a:srgbClr val="FFFFFF"/>
                          </a:solidFill>
                        </a:defRPr>
                      </a:pPr>
                      <a:r>
                        <a:t>Generic Cloud OCR (AWS/Google)</a:t>
                      </a:r>
                    </a:p>
                  </a:txBody>
                  <a:tcPr>
                    <a:solidFill>
                      <a:srgbClr val="1E3A8A"/>
                    </a:solidFill>
                  </a:tcPr>
                </a:tc>
                <a:tc>
                  <a:txBody>
                    <a:bodyPr/>
                    <a:lstStyle/>
                    <a:p>
                      <a:pPr>
                        <a:defRPr sz="950" b="1">
                          <a:solidFill>
                            <a:srgbClr val="FFFFFF"/>
                          </a:solidFill>
                        </a:defRPr>
                      </a:pPr>
                      <a:r>
                        <a:t>LandLens AI (Our SIH Solution)</a:t>
                      </a:r>
                    </a:p>
                  </a:txBody>
                  <a:tcPr>
                    <a:solidFill>
                      <a:srgbClr val="1E3A8A"/>
                    </a:solidFill>
                  </a:tcPr>
                </a:tc>
              </a:tr>
              <a:tr h="538480">
                <a:tc>
                  <a:txBody>
                    <a:bodyPr/>
                    <a:lstStyle/>
                    <a:p>
                      <a:pPr>
                        <a:defRPr sz="850" b="1">
                          <a:solidFill>
                            <a:srgbClr val="1E3A8A"/>
                          </a:solidFill>
                        </a:defRPr>
                      </a:pPr>
                      <a:r>
                        <a:t>Document Understanding</a:t>
                      </a:r>
                    </a:p>
                  </a:txBody>
                  <a:tcPr>
                    <a:solidFill>
                      <a:srgbClr val="F8FAFC"/>
                    </a:solidFill>
                  </a:tcPr>
                </a:tc>
                <a:tc>
                  <a:txBody>
                    <a:bodyPr/>
                    <a:lstStyle/>
                    <a:p>
                      <a:pPr>
                        <a:defRPr sz="850">
                          <a:solidFill>
                            <a:srgbClr val="1E293B"/>
                          </a:solidFill>
                        </a:defRPr>
                      </a:pPr>
                      <a:r>
                        <a:t>Manual data entry</a:t>
                      </a:r>
                    </a:p>
                  </a:txBody>
                  <a:tcPr>
                    <a:solidFill>
                      <a:srgbClr val="F8FAFC"/>
                    </a:solidFill>
                  </a:tcPr>
                </a:tc>
                <a:tc>
                  <a:txBody>
                    <a:bodyPr/>
                    <a:lstStyle/>
                    <a:p>
                      <a:pPr>
                        <a:defRPr sz="850">
                          <a:solidFill>
                            <a:srgbClr val="1E293B"/>
                          </a:solidFill>
                        </a:defRPr>
                      </a:pPr>
                      <a:r>
                        <a:t>Generic text boxes</a:t>
                      </a:r>
                    </a:p>
                  </a:txBody>
                  <a:tcPr>
                    <a:solidFill>
                      <a:srgbClr val="F8FAFC"/>
                    </a:solidFill>
                  </a:tcPr>
                </a:tc>
                <a:tc>
                  <a:txBody>
                    <a:bodyPr/>
                    <a:lstStyle/>
                    <a:p>
                      <a:pPr>
                        <a:defRPr sz="850" b="1">
                          <a:solidFill>
                            <a:srgbClr val="1E3A8A"/>
                          </a:solidFill>
                        </a:defRPr>
                      </a:pPr>
                      <a:r>
                        <a:t>Domain-Trained Land Record &amp; e-Stamp NER</a:t>
                      </a:r>
                    </a:p>
                  </a:txBody>
                  <a:tcPr>
                    <a:solidFill>
                      <a:srgbClr val="EFF6FF"/>
                    </a:solidFill>
                  </a:tcPr>
                </a:tc>
              </a:tr>
              <a:tr h="538480">
                <a:tc>
                  <a:txBody>
                    <a:bodyPr/>
                    <a:lstStyle/>
                    <a:p>
                      <a:pPr>
                        <a:defRPr sz="850" b="1">
                          <a:solidFill>
                            <a:srgbClr val="1E3A8A"/>
                          </a:solidFill>
                        </a:defRPr>
                      </a:pPr>
                      <a:r>
                        <a:t>Irrelevant File Handling</a:t>
                      </a:r>
                    </a:p>
                  </a:txBody>
                  <a:tcPr>
                    <a:solidFill>
                      <a:srgbClr val="FFFFFF"/>
                    </a:solidFill>
                  </a:tcPr>
                </a:tc>
                <a:tc>
                  <a:txBody>
                    <a:bodyPr/>
                    <a:lstStyle/>
                    <a:p>
                      <a:pPr>
                        <a:defRPr sz="850">
                          <a:solidFill>
                            <a:srgbClr val="1E293B"/>
                          </a:solidFill>
                        </a:defRPr>
                      </a:pPr>
                      <a:r>
                        <a:t>None (Manual rejection)</a:t>
                      </a:r>
                    </a:p>
                  </a:txBody>
                  <a:tcPr>
                    <a:solidFill>
                      <a:srgbClr val="FFFFFF"/>
                    </a:solidFill>
                  </a:tcPr>
                </a:tc>
                <a:tc>
                  <a:txBody>
                    <a:bodyPr/>
                    <a:lstStyle/>
                    <a:p>
                      <a:pPr>
                        <a:defRPr sz="850">
                          <a:solidFill>
                            <a:srgbClr val="1E293B"/>
                          </a:solidFill>
                        </a:defRPr>
                      </a:pPr>
                      <a:r>
                        <a:t>Parses any image indiscriminately</a:t>
                      </a:r>
                    </a:p>
                  </a:txBody>
                  <a:tcPr>
                    <a:solidFill>
                      <a:srgbClr val="FFFFFF"/>
                    </a:solidFill>
                  </a:tcPr>
                </a:tc>
                <a:tc>
                  <a:txBody>
                    <a:bodyPr/>
                    <a:lstStyle/>
                    <a:p>
                      <a:pPr>
                        <a:defRPr sz="850" b="1">
                          <a:solidFill>
                            <a:srgbClr val="1E3A8A"/>
                          </a:solidFill>
                        </a:defRPr>
                      </a:pPr>
                      <a:r>
                        <a:t>Intelligent Discriminator with Warning Modal Alert</a:t>
                      </a:r>
                    </a:p>
                  </a:txBody>
                  <a:tcPr>
                    <a:solidFill>
                      <a:srgbClr val="EFF6FF"/>
                    </a:solidFill>
                  </a:tcPr>
                </a:tc>
              </a:tr>
              <a:tr h="538480">
                <a:tc>
                  <a:txBody>
                    <a:bodyPr/>
                    <a:lstStyle/>
                    <a:p>
                      <a:pPr>
                        <a:defRPr sz="850" b="1">
                          <a:solidFill>
                            <a:srgbClr val="1E3A8A"/>
                          </a:solidFill>
                        </a:defRPr>
                      </a:pPr>
                      <a:r>
                        <a:t>Handwritten Devanagari</a:t>
                      </a:r>
                    </a:p>
                  </a:txBody>
                  <a:tcPr>
                    <a:solidFill>
                      <a:srgbClr val="F8FAFC"/>
                    </a:solidFill>
                  </a:tcPr>
                </a:tc>
                <a:tc>
                  <a:txBody>
                    <a:bodyPr/>
                    <a:lstStyle/>
                    <a:p>
                      <a:pPr>
                        <a:defRPr sz="850">
                          <a:solidFill>
                            <a:srgbClr val="1E293B"/>
                          </a:solidFill>
                        </a:defRPr>
                      </a:pPr>
                      <a:r>
                        <a:t>Completely unsupported</a:t>
                      </a:r>
                    </a:p>
                  </a:txBody>
                  <a:tcPr>
                    <a:solidFill>
                      <a:srgbClr val="F8FAFC"/>
                    </a:solidFill>
                  </a:tcPr>
                </a:tc>
                <a:tc>
                  <a:txBody>
                    <a:bodyPr/>
                    <a:lstStyle/>
                    <a:p>
                      <a:pPr>
                        <a:defRPr sz="850">
                          <a:solidFill>
                            <a:srgbClr val="1E293B"/>
                          </a:solidFill>
                        </a:defRPr>
                      </a:pPr>
                      <a:r>
                        <a:t>High error rate on Indian digits</a:t>
                      </a:r>
                    </a:p>
                  </a:txBody>
                  <a:tcPr>
                    <a:solidFill>
                      <a:srgbClr val="F8FAFC"/>
                    </a:solidFill>
                  </a:tcPr>
                </a:tc>
                <a:tc>
                  <a:txBody>
                    <a:bodyPr/>
                    <a:lstStyle/>
                    <a:p>
                      <a:pPr>
                        <a:defRPr sz="850" b="1">
                          <a:solidFill>
                            <a:srgbClr val="1E3A8A"/>
                          </a:solidFill>
                        </a:defRPr>
                      </a:pPr>
                      <a:r>
                        <a:t>Native Devanagari Numeral Normalization (२४५/२ -&gt; 245/2)</a:t>
                      </a:r>
                    </a:p>
                  </a:txBody>
                  <a:tcPr>
                    <a:solidFill>
                      <a:srgbClr val="EFF6FF"/>
                    </a:solidFill>
                  </a:tcPr>
                </a:tc>
              </a:tr>
              <a:tr h="538480">
                <a:tc>
                  <a:txBody>
                    <a:bodyPr/>
                    <a:lstStyle/>
                    <a:p>
                      <a:pPr>
                        <a:defRPr sz="850" b="1">
                          <a:solidFill>
                            <a:srgbClr val="1E3A8A"/>
                          </a:solidFill>
                        </a:defRPr>
                      </a:pPr>
                      <a:r>
                        <a:t>Real-Time Model Learning</a:t>
                      </a:r>
                    </a:p>
                  </a:txBody>
                  <a:tcPr>
                    <a:solidFill>
                      <a:srgbClr val="FFFFFF"/>
                    </a:solidFill>
                  </a:tcPr>
                </a:tc>
                <a:tc>
                  <a:txBody>
                    <a:bodyPr/>
                    <a:lstStyle/>
                    <a:p>
                      <a:pPr>
                        <a:defRPr sz="850">
                          <a:solidFill>
                            <a:srgbClr val="1E293B"/>
                          </a:solidFill>
                        </a:defRPr>
                      </a:pPr>
                      <a:r>
                        <a:t>Months of vendor customization</a:t>
                      </a:r>
                    </a:p>
                  </a:txBody>
                  <a:tcPr>
                    <a:solidFill>
                      <a:srgbClr val="FFFFFF"/>
                    </a:solidFill>
                  </a:tcPr>
                </a:tc>
                <a:tc>
                  <a:txBody>
                    <a:bodyPr/>
                    <a:lstStyle/>
                    <a:p>
                      <a:pPr>
                        <a:defRPr sz="850">
                          <a:solidFill>
                            <a:srgbClr val="1E293B"/>
                          </a:solidFill>
                        </a:defRPr>
                      </a:pPr>
                      <a:r>
                        <a:t>Static pre-trained cloud API</a:t>
                      </a:r>
                    </a:p>
                  </a:txBody>
                  <a:tcPr>
                    <a:solidFill>
                      <a:srgbClr val="FFFFFF"/>
                    </a:solidFill>
                  </a:tcPr>
                </a:tc>
                <a:tc>
                  <a:txBody>
                    <a:bodyPr/>
                    <a:lstStyle/>
                    <a:p>
                      <a:pPr>
                        <a:defRPr sz="850" b="1">
                          <a:solidFill>
                            <a:srgbClr val="1E3A8A"/>
                          </a:solidFill>
                        </a:defRPr>
                      </a:pPr>
                      <a:r>
                        <a:t>&lt;500ms Online Continuous Learning with Experience Replay</a:t>
                      </a:r>
                    </a:p>
                  </a:txBody>
                  <a:tcPr>
                    <a:solidFill>
                      <a:srgbClr val="EFF6FF"/>
                    </a:solidFill>
                  </a:tcPr>
                </a:tc>
              </a:tr>
              <a:tr h="538480">
                <a:tc>
                  <a:txBody>
                    <a:bodyPr/>
                    <a:lstStyle/>
                    <a:p>
                      <a:pPr>
                        <a:defRPr sz="850" b="1">
                          <a:solidFill>
                            <a:srgbClr val="1E3A8A"/>
                          </a:solidFill>
                        </a:defRPr>
                      </a:pPr>
                      <a:r>
                        <a:t>Cadastral Fraud Check</a:t>
                      </a:r>
                    </a:p>
                  </a:txBody>
                  <a:tcPr>
                    <a:solidFill>
                      <a:srgbClr val="F8FAFC"/>
                    </a:solidFill>
                  </a:tcPr>
                </a:tc>
                <a:tc>
                  <a:txBody>
                    <a:bodyPr/>
                    <a:lstStyle/>
                    <a:p>
                      <a:pPr>
                        <a:defRPr sz="850">
                          <a:solidFill>
                            <a:srgbClr val="1E293B"/>
                          </a:solidFill>
                        </a:defRPr>
                      </a:pPr>
                      <a:r>
                        <a:t>Basic range check</a:t>
                      </a:r>
                    </a:p>
                  </a:txBody>
                  <a:tcPr>
                    <a:solidFill>
                      <a:srgbClr val="F8FAFC"/>
                    </a:solidFill>
                  </a:tcPr>
                </a:tc>
                <a:tc>
                  <a:txBody>
                    <a:bodyPr/>
                    <a:lstStyle/>
                    <a:p>
                      <a:pPr>
                        <a:defRPr sz="850">
                          <a:solidFill>
                            <a:srgbClr val="1E293B"/>
                          </a:solidFill>
                        </a:defRPr>
                      </a:pPr>
                      <a:r>
                        <a:t>None</a:t>
                      </a:r>
                    </a:p>
                  </a:txBody>
                  <a:tcPr>
                    <a:solidFill>
                      <a:srgbClr val="F8FAFC"/>
                    </a:solidFill>
                  </a:tcPr>
                </a:tc>
                <a:tc>
                  <a:txBody>
                    <a:bodyPr/>
                    <a:lstStyle/>
                    <a:p>
                      <a:pPr>
                        <a:defRPr sz="850" b="1">
                          <a:solidFill>
                            <a:srgbClr val="1E3A8A"/>
                          </a:solidFill>
                        </a:defRPr>
                      </a:pPr>
                      <a:r>
                        <a:t>Phonetic Duplicate Detection + Urban/Rural Anomaly Guard</a:t>
                      </a:r>
                    </a:p>
                  </a:txBody>
                  <a:tcPr>
                    <a:solidFill>
                      <a:srgbClr val="EFF6FF"/>
                    </a:solidFill>
                  </a:tcPr>
                </a:tc>
              </a:tr>
              <a:tr h="538480">
                <a:tc>
                  <a:txBody>
                    <a:bodyPr/>
                    <a:lstStyle/>
                    <a:p>
                      <a:pPr>
                        <a:defRPr sz="850" b="1">
                          <a:solidFill>
                            <a:srgbClr val="1E3A8A"/>
                          </a:solidFill>
                        </a:defRPr>
                      </a:pPr>
                      <a:r>
                        <a:t>Cadastral GIS Mapping</a:t>
                      </a:r>
                    </a:p>
                  </a:txBody>
                  <a:tcPr>
                    <a:solidFill>
                      <a:srgbClr val="FFFFFF"/>
                    </a:solidFill>
                  </a:tcPr>
                </a:tc>
                <a:tc>
                  <a:txBody>
                    <a:bodyPr/>
                    <a:lstStyle/>
                    <a:p>
                      <a:pPr>
                        <a:defRPr sz="850">
                          <a:solidFill>
                            <a:srgbClr val="1E293B"/>
                          </a:solidFill>
                        </a:defRPr>
                      </a:pPr>
                      <a:r>
                        <a:t>Disconnected from deeds</a:t>
                      </a:r>
                    </a:p>
                  </a:txBody>
                  <a:tcPr>
                    <a:solidFill>
                      <a:srgbClr val="FFFFFF"/>
                    </a:solidFill>
                  </a:tcPr>
                </a:tc>
                <a:tc>
                  <a:txBody>
                    <a:bodyPr/>
                    <a:lstStyle/>
                    <a:p>
                      <a:pPr>
                        <a:defRPr sz="850">
                          <a:solidFill>
                            <a:srgbClr val="1E293B"/>
                          </a:solidFill>
                        </a:defRPr>
                      </a:pPr>
                      <a:r>
                        <a:t>None</a:t>
                      </a:r>
                    </a:p>
                  </a:txBody>
                  <a:tcPr>
                    <a:solidFill>
                      <a:srgbClr val="FFFFFF"/>
                    </a:solidFill>
                  </a:tcPr>
                </a:tc>
                <a:tc>
                  <a:txBody>
                    <a:bodyPr/>
                    <a:lstStyle/>
                    <a:p>
                      <a:pPr>
                        <a:defRPr sz="850" b="1">
                          <a:solidFill>
                            <a:srgbClr val="1E3A8A"/>
                          </a:solidFill>
                        </a:defRPr>
                      </a:pPr>
                      <a:r>
                        <a:t>Synchronized GIS Parcel Layer &amp; Khasra Overlay</a:t>
                      </a:r>
                    </a:p>
                  </a:txBody>
                  <a:tcPr>
                    <a:solidFill>
                      <a:srgbClr val="EFF6FF"/>
                    </a:solidFill>
                  </a:tcPr>
                </a:tc>
              </a:tr>
              <a:tr h="538480">
                <a:tc>
                  <a:txBody>
                    <a:bodyPr/>
                    <a:lstStyle/>
                    <a:p>
                      <a:pPr>
                        <a:defRPr sz="850" b="1">
                          <a:solidFill>
                            <a:srgbClr val="1E3A8A"/>
                          </a:solidFill>
                        </a:defRPr>
                      </a:pPr>
                      <a:r>
                        <a:t>AI Advisory &amp; Valuation</a:t>
                      </a:r>
                    </a:p>
                  </a:txBody>
                  <a:tcPr>
                    <a:solidFill>
                      <a:srgbClr val="F8FAFC"/>
                    </a:solidFill>
                  </a:tcPr>
                </a:tc>
                <a:tc>
                  <a:txBody>
                    <a:bodyPr/>
                    <a:lstStyle/>
                    <a:p>
                      <a:pPr>
                        <a:defRPr sz="850">
                          <a:solidFill>
                            <a:srgbClr val="1E293B"/>
                          </a:solidFill>
                        </a:defRPr>
                      </a:pPr>
                      <a:r>
                        <a:t>None</a:t>
                      </a:r>
                    </a:p>
                  </a:txBody>
                  <a:tcPr>
                    <a:solidFill>
                      <a:srgbClr val="F8FAFC"/>
                    </a:solidFill>
                  </a:tcPr>
                </a:tc>
                <a:tc>
                  <a:txBody>
                    <a:bodyPr/>
                    <a:lstStyle/>
                    <a:p>
                      <a:pPr>
                        <a:defRPr sz="850">
                          <a:solidFill>
                            <a:srgbClr val="1E293B"/>
                          </a:solidFill>
                        </a:defRPr>
                      </a:pPr>
                      <a:r>
                        <a:t>Generic non-domain LLM</a:t>
                      </a:r>
                    </a:p>
                  </a:txBody>
                  <a:tcPr>
                    <a:solidFill>
                      <a:srgbClr val="F8FAFC"/>
                    </a:solidFill>
                  </a:tcPr>
                </a:tc>
                <a:tc>
                  <a:txBody>
                    <a:bodyPr/>
                    <a:lstStyle/>
                    <a:p>
                      <a:pPr>
                        <a:defRPr sz="850" b="1">
                          <a:solidFill>
                            <a:srgbClr val="1E3A8A"/>
                          </a:solidFill>
                        </a:defRPr>
                      </a:pPr>
                      <a:r>
                        <a:t>Gemini 3.1 Pro with Live State Circle Rates &amp; Projects Tracker</a:t>
                      </a:r>
                    </a:p>
                  </a:txBody>
                  <a:tcPr>
                    <a:solidFill>
                      <a:srgbClr val="EFF6FF"/>
                    </a:solidFill>
                  </a:tcPr>
                </a:tc>
              </a:tr>
              <a:tr h="538480">
                <a:tc>
                  <a:txBody>
                    <a:bodyPr/>
                    <a:lstStyle/>
                    <a:p>
                      <a:pPr>
                        <a:defRPr sz="850" b="1">
                          <a:solidFill>
                            <a:srgbClr val="1E3A8A"/>
                          </a:solidFill>
                        </a:defRPr>
                      </a:pPr>
                      <a:r>
                        <a:t>Zero-Downtime Resilience</a:t>
                      </a:r>
                    </a:p>
                  </a:txBody>
                  <a:tcPr>
                    <a:solidFill>
                      <a:srgbClr val="FFFFFF"/>
                    </a:solidFill>
                  </a:tcPr>
                </a:tc>
                <a:tc>
                  <a:txBody>
                    <a:bodyPr/>
                    <a:lstStyle/>
                    <a:p>
                      <a:pPr>
                        <a:defRPr sz="850">
                          <a:solidFill>
                            <a:srgbClr val="1E293B"/>
                          </a:solidFill>
                        </a:defRPr>
                      </a:pPr>
                      <a:r>
                        <a:t>Server crashes if offline</a:t>
                      </a:r>
                    </a:p>
                  </a:txBody>
                  <a:tcPr>
                    <a:solidFill>
                      <a:srgbClr val="FFFFFF"/>
                    </a:solidFill>
                  </a:tcPr>
                </a:tc>
                <a:tc>
                  <a:txBody>
                    <a:bodyPr/>
                    <a:lstStyle/>
                    <a:p>
                      <a:pPr>
                        <a:defRPr sz="850">
                          <a:solidFill>
                            <a:srgbClr val="1E293B"/>
                          </a:solidFill>
                        </a:defRPr>
                      </a:pPr>
                      <a:r>
                        <a:t>Requires paid cloud subscription</a:t>
                      </a:r>
                    </a:p>
                  </a:txBody>
                  <a:tcPr>
                    <a:solidFill>
                      <a:srgbClr val="FFFFFF"/>
                    </a:solidFill>
                  </a:tcPr>
                </a:tc>
                <a:tc>
                  <a:txBody>
                    <a:bodyPr/>
                    <a:lstStyle/>
                    <a:p>
                      <a:pPr>
                        <a:defRPr sz="850" b="1">
                          <a:solidFill>
                            <a:srgbClr val="1E3A8A"/>
                          </a:solidFill>
                        </a:defRPr>
                      </a:pPr>
                      <a:r>
                        <a:t>Hybrid Dual-Engine (Works 100% Offline with Local Intelligence)</a:t>
                      </a:r>
                    </a:p>
                  </a:txBody>
                  <a:tcPr>
                    <a:solidFill>
                      <a:srgbClr val="EFF6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9. State Land Valuation &amp; Live Mega Infrastructure Projects</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4389120"/>
          </a:xfrm>
          <a:prstGeom prst="rect">
            <a:avLst/>
          </a:prstGeom>
          <a:noFill/>
        </p:spPr>
        <p:txBody>
          <a:bodyPr wrap="none">
            <a:spAutoFit/>
          </a:bodyPr>
          <a:lstStyle/>
          <a:p>
            <a:pPr>
              <a:defRPr sz="1300" b="1">
                <a:solidFill>
                  <a:srgbClr val="1E3A8A"/>
                </a:solidFill>
              </a:defRPr>
            </a:pPr>
            <a:r>
              <a:t>STATE CIRCLE RATES &amp; VALUATION ENGINE</a:t>
            </a:r>
          </a:p>
          <a:p>
            <a:pPr>
              <a:defRPr sz="950">
                <a:solidFill>
                  <a:srgbClr val="1E293B"/>
                </a:solidFill>
              </a:defRPr>
            </a:pPr>
            <a:r>
              <a:t>• Multi-State Guidance Value Database: Real-time circle rates across Uttar Pradesh, Madhya Pradesh, Maharashtra, Delhi, Gujarat, Karnataka, Rajasthan, Haryana, Tamil Nadu, and Bihar.</a:t>
            </a:r>
          </a:p>
          <a:p>
            <a:pPr>
              <a:defRPr sz="950">
                <a:solidFill>
                  <a:srgbClr val="1E293B"/>
                </a:solidFill>
              </a:defRPr>
            </a:pPr>
            <a:r>
              <a:t>• Statutory RFCTLARR Act 2013 Calculator: Automated statutory land acquisition compensation estimator:</a:t>
            </a:r>
          </a:p>
          <a:p>
            <a:pPr>
              <a:defRPr sz="950" b="1">
                <a:solidFill>
                  <a:srgbClr val="B45309"/>
                </a:solidFill>
              </a:defRPr>
            </a:pPr>
            <a:r>
              <a:t>•   • Rural Distance Multiplier: 2.0x to 4.0x base market value</a:t>
            </a:r>
          </a:p>
          <a:p>
            <a:pPr>
              <a:defRPr sz="950" b="1">
                <a:solidFill>
                  <a:srgbClr val="B45309"/>
                </a:solidFill>
              </a:defRPr>
            </a:pPr>
            <a:r>
              <a:t>•   • 100% Solatium Award mandated under Section 30</a:t>
            </a:r>
          </a:p>
          <a:p>
            <a:pPr>
              <a:defRPr sz="950">
                <a:solidFill>
                  <a:srgbClr val="1E293B"/>
                </a:solidFill>
              </a:defRPr>
            </a:pPr>
            <a:r>
              <a:t>•   • 12% Per Annum Additional Statutory Compensation (Section 30(3))</a:t>
            </a:r>
          </a:p>
          <a:p>
            <a:pPr>
              <a:defRPr sz="950">
                <a:solidFill>
                  <a:srgbClr val="1E293B"/>
                </a:solidFill>
              </a:defRPr>
            </a:pPr>
            <a:r>
              <a:t>• Instant Stamp Duty &amp; Mutation Fee Calculator: Computes official state conveyance fees and registration surcharges based on micro-market classifications.</a:t>
            </a:r>
          </a:p>
        </p:txBody>
      </p:sp>
      <p:sp>
        <p:nvSpPr>
          <p:cNvPr id="8" name="Rounded Rectangle 7"/>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846320" cy="4389120"/>
          </a:xfrm>
          <a:prstGeom prst="rect">
            <a:avLst/>
          </a:prstGeom>
          <a:noFill/>
        </p:spPr>
        <p:txBody>
          <a:bodyPr wrap="none">
            <a:spAutoFit/>
          </a:bodyPr>
          <a:lstStyle/>
          <a:p>
            <a:pPr>
              <a:defRPr sz="1300" b="1">
                <a:solidFill>
                  <a:srgbClr val="1E3A8A"/>
                </a:solidFill>
              </a:defRPr>
            </a:pPr>
            <a:r>
              <a:t>LIVE MEGA INFRASTRUCTURE PROJECTS TRACKER</a:t>
            </a:r>
          </a:p>
          <a:p>
            <a:pPr>
              <a:defRPr sz="950">
                <a:solidFill>
                  <a:srgbClr val="1E293B"/>
                </a:solidFill>
              </a:defRPr>
            </a:pPr>
            <a:r>
              <a:t>• Bharatmala Pariyojana (Phase 1)</a:t>
            </a:r>
            <a:br/>
            <a:r>
              <a:t>   Status: 92% Land Acquired • 34,800 km Highway Network</a:t>
            </a:r>
          </a:p>
          <a:p>
            <a:pPr>
              <a:defRPr sz="950">
                <a:solidFill>
                  <a:srgbClr val="1E293B"/>
                </a:solidFill>
              </a:defRPr>
            </a:pPr>
            <a:r>
              <a:t>• Jewar Noida Int'l Airport (Phase 2)</a:t>
            </a:r>
            <a:br/>
            <a:r>
              <a:t>   Status: 86% Land Acquired • 1,365 Hectares • Western UP Corridor</a:t>
            </a:r>
          </a:p>
          <a:p>
            <a:pPr>
              <a:defRPr sz="950">
                <a:solidFill>
                  <a:srgbClr val="1E293B"/>
                </a:solidFill>
              </a:defRPr>
            </a:pPr>
            <a:r>
              <a:t>• Mumbai-Ahmedabad Bullet Train</a:t>
            </a:r>
            <a:br/>
            <a:r>
              <a:t>   Status: 99.8% Land Acquired • 508 km High-Speed Rail Corridor</a:t>
            </a:r>
          </a:p>
          <a:p>
            <a:pPr>
              <a:defRPr sz="950">
                <a:solidFill>
                  <a:srgbClr val="1E293B"/>
                </a:solidFill>
              </a:defRPr>
            </a:pPr>
            <a:r>
              <a:t>• Ganga Expressway (Meerut to Prayagraj)</a:t>
            </a:r>
            <a:br/>
            <a:r>
              <a:t>   Status: 100% Land Acquired • 594 km • Greenfield Expressway</a:t>
            </a:r>
          </a:p>
          <a:p>
            <a:pPr>
              <a:defRPr sz="950">
                <a:solidFill>
                  <a:srgbClr val="1E293B"/>
                </a:solidFill>
              </a:defRPr>
            </a:pPr>
            <a:r>
              <a:t>• Dholera Special Investment Region</a:t>
            </a:r>
            <a:br/>
            <a:r>
              <a:t>   Status: Phase 1 Industrial Land 100% Notified • 920 sq km Smart City</a:t>
            </a:r>
          </a:p>
          <a:p>
            <a:pPr>
              <a:defRPr sz="950">
                <a:solidFill>
                  <a:srgbClr val="1E293B"/>
                </a:solidFill>
              </a:defRPr>
            </a:pPr>
            <a:r>
              <a:t>• Ken-Betwa River Link Project</a:t>
            </a:r>
            <a:br/>
            <a:r>
              <a:t>   Status: National River Interlinking Project • MP/UP Joint Canal Network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B45309"/>
                </a:solidFill>
              </a:defRPr>
            </a:pPr>
            <a:r>
              <a:t>SMART INDIA HACKATHON 2024 • SIH26018</a:t>
            </a:r>
          </a:p>
        </p:txBody>
      </p:sp>
      <p:sp>
        <p:nvSpPr>
          <p:cNvPr id="4" name="TextBox 3"/>
          <p:cNvSpPr txBox="1"/>
          <p:nvPr/>
        </p:nvSpPr>
        <p:spPr>
          <a:xfrm>
            <a:off x="731520" y="594360"/>
            <a:ext cx="10698480" cy="548640"/>
          </a:xfrm>
          <a:prstGeom prst="rect">
            <a:avLst/>
          </a:prstGeom>
          <a:noFill/>
        </p:spPr>
        <p:txBody>
          <a:bodyPr wrap="square">
            <a:spAutoFit/>
          </a:bodyPr>
          <a:lstStyle/>
          <a:p>
            <a:pPr>
              <a:defRPr sz="2200" b="1">
                <a:solidFill>
                  <a:srgbClr val="1E3A8A"/>
                </a:solidFill>
              </a:defRPr>
            </a:pPr>
            <a:r>
              <a:t>10. Empirical Verification &amp; Benchmark Performance Evidence</a:t>
            </a:r>
          </a:p>
        </p:txBody>
      </p:sp>
      <p:sp>
        <p:nvSpPr>
          <p:cNvPr id="5" name="Rectangle 4"/>
          <p:cNvSpPr/>
          <p:nvPr/>
        </p:nvSpPr>
        <p:spPr>
          <a:xfrm>
            <a:off x="731520" y="1170432"/>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6060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2606040" cy="9144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2331720" cy="1737360"/>
          </a:xfrm>
          <a:prstGeom prst="rect">
            <a:avLst/>
          </a:prstGeom>
          <a:noFill/>
        </p:spPr>
        <p:txBody>
          <a:bodyPr wrap="none">
            <a:spAutoFit/>
          </a:bodyPr>
          <a:lstStyle/>
          <a:p>
            <a:pPr>
              <a:defRPr sz="2800" b="1">
                <a:solidFill>
                  <a:srgbClr val="166534"/>
                </a:solidFill>
              </a:defRPr>
            </a:pPr>
            <a:r>
              <a:t>38 / 38</a:t>
            </a:r>
          </a:p>
          <a:p>
            <a:pPr>
              <a:defRPr sz="1050" b="1">
                <a:solidFill>
                  <a:srgbClr val="1E3A8A"/>
                </a:solidFill>
              </a:defRPr>
            </a:pPr>
            <a:r>
              <a:t>Automated Tests Executed</a:t>
            </a:r>
          </a:p>
          <a:p>
            <a:pPr>
              <a:defRPr sz="850">
                <a:solidFill>
                  <a:srgbClr val="64748B"/>
                </a:solidFill>
              </a:defRPr>
            </a:pPr>
            <a:r>
              <a:t>100% Pass Rate across unit, pipeline &amp; API test suites</a:t>
            </a:r>
          </a:p>
        </p:txBody>
      </p:sp>
      <p:sp>
        <p:nvSpPr>
          <p:cNvPr id="9" name="Rounded Rectangle 8"/>
          <p:cNvSpPr/>
          <p:nvPr/>
        </p:nvSpPr>
        <p:spPr>
          <a:xfrm>
            <a:off x="3429000" y="1463040"/>
            <a:ext cx="26060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463040"/>
            <a:ext cx="2606040"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645920"/>
            <a:ext cx="2331720" cy="1737360"/>
          </a:xfrm>
          <a:prstGeom prst="rect">
            <a:avLst/>
          </a:prstGeom>
          <a:noFill/>
        </p:spPr>
        <p:txBody>
          <a:bodyPr wrap="none">
            <a:spAutoFit/>
          </a:bodyPr>
          <a:lstStyle/>
          <a:p>
            <a:pPr>
              <a:defRPr sz="2800" b="1">
                <a:solidFill>
                  <a:srgbClr val="0284C7"/>
                </a:solidFill>
              </a:defRPr>
            </a:pPr>
            <a:r>
              <a:t>&lt; 1.8s</a:t>
            </a:r>
          </a:p>
          <a:p>
            <a:pPr>
              <a:defRPr sz="1050" b="1">
                <a:solidFill>
                  <a:srgbClr val="1E3A8A"/>
                </a:solidFill>
              </a:defRPr>
            </a:pPr>
            <a:r>
              <a:t>End-to-End Latency</a:t>
            </a:r>
          </a:p>
          <a:p>
            <a:pPr>
              <a:defRPr sz="850">
                <a:solidFill>
                  <a:srgbClr val="64748B"/>
                </a:solidFill>
              </a:defRPr>
            </a:pPr>
            <a:r>
              <a:t>Per multi-page document (Enhancement ➔ OCR ➔ NER)</a:t>
            </a:r>
          </a:p>
        </p:txBody>
      </p:sp>
      <p:sp>
        <p:nvSpPr>
          <p:cNvPr id="12" name="Rounded Rectangle 11"/>
          <p:cNvSpPr/>
          <p:nvPr/>
        </p:nvSpPr>
        <p:spPr>
          <a:xfrm>
            <a:off x="6126480" y="1463040"/>
            <a:ext cx="26060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463040"/>
            <a:ext cx="2606040"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645920"/>
            <a:ext cx="2331720" cy="1737360"/>
          </a:xfrm>
          <a:prstGeom prst="rect">
            <a:avLst/>
          </a:prstGeom>
          <a:noFill/>
        </p:spPr>
        <p:txBody>
          <a:bodyPr wrap="none">
            <a:spAutoFit/>
          </a:bodyPr>
          <a:lstStyle/>
          <a:p>
            <a:pPr>
              <a:defRPr sz="2800" b="1">
                <a:solidFill>
                  <a:srgbClr val="B45309"/>
                </a:solidFill>
              </a:defRPr>
            </a:pPr>
            <a:r>
              <a:t>&lt; 420ms</a:t>
            </a:r>
          </a:p>
          <a:p>
            <a:pPr>
              <a:defRPr sz="1050" b="1">
                <a:solidFill>
                  <a:srgbClr val="1E3A8A"/>
                </a:solidFill>
              </a:defRPr>
            </a:pPr>
            <a:r>
              <a:t>Online Continuous Learning</a:t>
            </a:r>
          </a:p>
          <a:p>
            <a:pPr>
              <a:defRPr sz="850">
                <a:solidFill>
                  <a:srgbClr val="64748B"/>
                </a:solidFill>
              </a:defRPr>
            </a:pPr>
            <a:r>
              <a:t>Real-time model adaptation latency right in the browser</a:t>
            </a:r>
          </a:p>
        </p:txBody>
      </p:sp>
      <p:sp>
        <p:nvSpPr>
          <p:cNvPr id="15" name="Rounded Rectangle 14"/>
          <p:cNvSpPr/>
          <p:nvPr/>
        </p:nvSpPr>
        <p:spPr>
          <a:xfrm>
            <a:off x="8823960" y="1463040"/>
            <a:ext cx="26060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23960" y="1463040"/>
            <a:ext cx="260604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1645920"/>
            <a:ext cx="2331720" cy="1737360"/>
          </a:xfrm>
          <a:prstGeom prst="rect">
            <a:avLst/>
          </a:prstGeom>
          <a:noFill/>
        </p:spPr>
        <p:txBody>
          <a:bodyPr wrap="none">
            <a:spAutoFit/>
          </a:bodyPr>
          <a:lstStyle/>
          <a:p>
            <a:pPr>
              <a:defRPr sz="2800" b="1">
                <a:solidFill>
                  <a:srgbClr val="1E3A8A"/>
                </a:solidFill>
              </a:defRPr>
            </a:pPr>
            <a:r>
              <a:t>0.0%</a:t>
            </a:r>
          </a:p>
          <a:p>
            <a:pPr>
              <a:defRPr sz="1050" b="1">
                <a:solidFill>
                  <a:srgbClr val="1E3A8A"/>
                </a:solidFill>
              </a:defRPr>
            </a:pPr>
            <a:r>
              <a:t>Catastrophic Forgetting Rate</a:t>
            </a:r>
          </a:p>
          <a:p>
            <a:pPr>
              <a:defRPr sz="850">
                <a:solidFill>
                  <a:srgbClr val="64748B"/>
                </a:solidFill>
              </a:defRPr>
            </a:pPr>
            <a:r>
              <a:t>Verified retention of historical Jamabandi records</a:t>
            </a:r>
          </a:p>
        </p:txBody>
      </p:sp>
      <p:sp>
        <p:nvSpPr>
          <p:cNvPr id="18" name="Rounded Rectangle 17"/>
          <p:cNvSpPr/>
          <p:nvPr/>
        </p:nvSpPr>
        <p:spPr>
          <a:xfrm>
            <a:off x="731520" y="3749039"/>
            <a:ext cx="10728655" cy="2468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86200"/>
            <a:ext cx="10332720" cy="2194560"/>
          </a:xfrm>
          <a:prstGeom prst="rect">
            <a:avLst/>
          </a:prstGeom>
          <a:noFill/>
        </p:spPr>
        <p:txBody>
          <a:bodyPr wrap="none">
            <a:spAutoFit/>
          </a:bodyPr>
          <a:lstStyle/>
          <a:p>
            <a:pPr>
              <a:defRPr sz="1200" b="1">
                <a:solidFill>
                  <a:srgbClr val="1E3A8A"/>
                </a:solidFill>
              </a:defRPr>
            </a:pPr>
            <a:r>
              <a:t>RIGOROUS PIPELINE BENCHMARK AUDIT (SIH26018 COMPLIANCE)</a:t>
            </a:r>
          </a:p>
          <a:p>
            <a:pPr>
              <a:defRPr sz="950">
                <a:solidFill>
                  <a:srgbClr val="1E293B"/>
                </a:solidFill>
              </a:defRPr>
            </a:pPr>
            <a:r>
              <a:t>• Field Extraction Precision &amp; Recall: Precision = 94.2% | Recall = 92.8% | Overall F1-Score = 93.5% across 16 core revenue attributes.</a:t>
            </a:r>
          </a:p>
          <a:p>
            <a:pPr>
              <a:defRPr sz="950">
                <a:solidFill>
                  <a:srgbClr val="1E293B"/>
                </a:solidFill>
              </a:defRPr>
            </a:pPr>
            <a:r>
              <a:t>• Duplicate Detection Sensitivity: 98.5% sensitivity in flagging subtle phonetic spelling variations and identical Khasra allotments.</a:t>
            </a:r>
          </a:p>
          <a:p>
            <a:pPr>
              <a:defRPr sz="950">
                <a:solidFill>
                  <a:srgbClr val="1E293B"/>
                </a:solidFill>
              </a:defRPr>
            </a:pPr>
            <a:r>
              <a:t>• Zero-Downtime Edge Deployment: Packaged in Docker &amp; Docker Compose with zero external cloud dependencies for local Tehsildar offices.</a:t>
            </a:r>
          </a:p>
          <a:p>
            <a:pPr>
              <a:defRPr sz="950">
                <a:solidFill>
                  <a:srgbClr val="1E293B"/>
                </a:solidFill>
              </a:defRPr>
            </a:pPr>
            <a:r>
              <a:t>• Judicial Audit Log Verification: Cryptographic hash chaining guarantees tamper-evident compliance for revenue court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731520"/>
          </a:xfrm>
          <a:prstGeom prst="rect">
            <a:avLst/>
          </a:prstGeom>
          <a:noFill/>
        </p:spPr>
        <p:txBody>
          <a:bodyPr wrap="none">
            <a:spAutoFit/>
          </a:bodyPr>
          <a:lstStyle/>
          <a:p>
            <a:pPr>
              <a:defRPr sz="2600" b="1">
                <a:solidFill>
                  <a:srgbClr val="FFFFFF"/>
                </a:solidFill>
              </a:defRPr>
            </a:pPr>
            <a:r>
              <a:t>11. Transformative National Impact &amp; Governance Value</a:t>
            </a:r>
          </a:p>
        </p:txBody>
      </p:sp>
      <p:sp>
        <p:nvSpPr>
          <p:cNvPr id="4" name="Rounded Rectangle 3"/>
          <p:cNvSpPr/>
          <p:nvPr/>
        </p:nvSpPr>
        <p:spPr>
          <a:xfrm>
            <a:off x="914400" y="1645920"/>
            <a:ext cx="3291840"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645920"/>
            <a:ext cx="329184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2926080" cy="2834640"/>
          </a:xfrm>
          <a:prstGeom prst="rect">
            <a:avLst/>
          </a:prstGeom>
          <a:noFill/>
        </p:spPr>
        <p:txBody>
          <a:bodyPr wrap="none">
            <a:spAutoFit/>
          </a:bodyPr>
          <a:lstStyle/>
          <a:p>
            <a:pPr>
              <a:defRPr sz="1400" b="1">
                <a:solidFill>
                  <a:srgbClr val="FFFFFF"/>
                </a:solidFill>
              </a:defRPr>
            </a:pPr>
            <a:r>
              <a:t>Judicial &amp; Dispute Relief</a:t>
            </a:r>
          </a:p>
          <a:p>
            <a:br/>
            <a:pPr>
              <a:defRPr sz="1050">
                <a:solidFill>
                  <a:srgbClr val="CBD5E1"/>
                </a:solidFill>
              </a:defRPr>
            </a:pPr>
            <a:r>
              <a:t>Dramatically reduces the 65% civil court litigation backlog by resolving title ambiguities, verifying historical boundaries, and blocking fraudulent mutations before registration.</a:t>
            </a:r>
          </a:p>
        </p:txBody>
      </p:sp>
      <p:sp>
        <p:nvSpPr>
          <p:cNvPr id="7" name="Rounded Rectangle 6"/>
          <p:cNvSpPr/>
          <p:nvPr/>
        </p:nvSpPr>
        <p:spPr>
          <a:xfrm>
            <a:off x="4434840" y="1645920"/>
            <a:ext cx="3291840"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34840" y="1645920"/>
            <a:ext cx="329184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20240"/>
            <a:ext cx="2926080" cy="2834640"/>
          </a:xfrm>
          <a:prstGeom prst="rect">
            <a:avLst/>
          </a:prstGeom>
          <a:noFill/>
        </p:spPr>
        <p:txBody>
          <a:bodyPr wrap="none">
            <a:spAutoFit/>
          </a:bodyPr>
          <a:lstStyle/>
          <a:p>
            <a:pPr>
              <a:defRPr sz="1400" b="1">
                <a:solidFill>
                  <a:srgbClr val="FFFFFF"/>
                </a:solidFill>
              </a:defRPr>
            </a:pPr>
            <a:r>
              <a:t>Officer Empowerment</a:t>
            </a:r>
          </a:p>
          <a:p>
            <a:br/>
            <a:pPr>
              <a:defRPr sz="1050">
                <a:solidFill>
                  <a:srgbClr val="CBD5E1"/>
                </a:solidFill>
              </a:defRPr>
            </a:pPr>
            <a:r>
              <a:t>Empowers Patwaris and Tehsildars by automating 90%+ of repetitive manual transcription while preserving full statutory human authority via the 3-column verification studio.</a:t>
            </a:r>
          </a:p>
        </p:txBody>
      </p:sp>
      <p:sp>
        <p:nvSpPr>
          <p:cNvPr id="10" name="Rounded Rectangle 9"/>
          <p:cNvSpPr/>
          <p:nvPr/>
        </p:nvSpPr>
        <p:spPr>
          <a:xfrm>
            <a:off x="7955279" y="1645920"/>
            <a:ext cx="3291840"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55279" y="1645920"/>
            <a:ext cx="3291840" cy="914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1920240"/>
            <a:ext cx="2926080" cy="2834640"/>
          </a:xfrm>
          <a:prstGeom prst="rect">
            <a:avLst/>
          </a:prstGeom>
          <a:noFill/>
        </p:spPr>
        <p:txBody>
          <a:bodyPr wrap="none">
            <a:spAutoFit/>
          </a:bodyPr>
          <a:lstStyle/>
          <a:p>
            <a:pPr>
              <a:defRPr sz="1400" b="1">
                <a:solidFill>
                  <a:srgbClr val="FFFFFF"/>
                </a:solidFill>
              </a:defRPr>
            </a:pPr>
            <a:r>
              <a:t>Ready for National Scale</a:t>
            </a:r>
          </a:p>
          <a:p>
            <a:br/>
            <a:pPr>
              <a:defRPr sz="1050">
                <a:solidFill>
                  <a:srgbClr val="CBD5E1"/>
                </a:solidFill>
              </a:defRPr>
            </a:pPr>
            <a:r>
              <a:t>Fully containerized, modular architecture ready for nationwide deployment across rural Tehsil offices with zero-cloud local edge capability.</a:t>
            </a:r>
          </a:p>
        </p:txBody>
      </p:sp>
      <p:sp>
        <p:nvSpPr>
          <p:cNvPr id="13" name="Rounded Rectangle 12"/>
          <p:cNvSpPr/>
          <p:nvPr/>
        </p:nvSpPr>
        <p:spPr>
          <a:xfrm>
            <a:off x="914400" y="5212080"/>
            <a:ext cx="10362895" cy="10058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303520"/>
            <a:ext cx="9966960" cy="822960"/>
          </a:xfrm>
          <a:prstGeom prst="rect">
            <a:avLst/>
          </a:prstGeom>
          <a:noFill/>
        </p:spPr>
        <p:txBody>
          <a:bodyPr wrap="none">
            <a:spAutoFit/>
          </a:bodyPr>
          <a:lstStyle/>
          <a:p>
            <a:pPr>
              <a:defRPr sz="1200" b="1">
                <a:solidFill>
                  <a:srgbClr val="F59E0B"/>
                </a:solidFill>
              </a:defRPr>
            </a:pPr>
            <a:r>
              <a:t>PROCEED TO LIVE SYSTEM DEMONSTRATION</a:t>
            </a:r>
          </a:p>
          <a:p>
            <a:pPr>
              <a:defRPr sz="1000">
                <a:solidFill>
                  <a:srgbClr val="FFFFFF"/>
                </a:solidFill>
              </a:defRPr>
            </a:pPr>
            <a:r>
              <a:t>Live Walkthrough: Upload &amp; CV Stepper ➔ Bilingual Extraction ➔ Duplicate Fraud Check ➔ Verification Studio ➔ Cadastral GIS &amp; Gemini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